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6c46b808254478" /><Relationship Type="http://schemas.openxmlformats.org/officeDocument/2006/relationships/extended-properties" Target="/docProps/app.xml" Id="R68d7f5da36094d8d" /><Relationship Type="http://schemas.openxmlformats.org/officeDocument/2006/relationships/officeDocument" Target="/ppt/presentation.xml" Id="R91b141d990f848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2d9186c20a421e"/>
  </p:sldMasterIdLst>
  <p:notesMasterIdLst>
    <p:notesMasterId xmlns:r="http://schemas.openxmlformats.org/officeDocument/2006/relationships" r:id="R782e2908279243df"/>
  </p:notesMasterIdLst>
  <p:sldIdLst>
    <p:sldId xmlns:r="http://schemas.openxmlformats.org/officeDocument/2006/relationships" id="256" r:id="Rcb590f129b1e4ec1"/>
    <p:sldId xmlns:r="http://schemas.openxmlformats.org/officeDocument/2006/relationships" id="257" r:id="R74e45a87ef304b2d"/>
    <p:sldId xmlns:r="http://schemas.openxmlformats.org/officeDocument/2006/relationships" id="258" r:id="R7a353db8b97345e7"/>
    <p:sldId xmlns:r="http://schemas.openxmlformats.org/officeDocument/2006/relationships" id="259" r:id="R14e69d1d00ae419a"/>
    <p:sldId xmlns:r="http://schemas.openxmlformats.org/officeDocument/2006/relationships" id="260" r:id="Rcdf9e3e3f2704253"/>
    <p:sldId xmlns:r="http://schemas.openxmlformats.org/officeDocument/2006/relationships" id="261" r:id="R7a7c7dd186094d85"/>
    <p:sldId xmlns:r="http://schemas.openxmlformats.org/officeDocument/2006/relationships" id="262" r:id="Raa4fa29fb47e46cb"/>
    <p:sldId xmlns:r="http://schemas.openxmlformats.org/officeDocument/2006/relationships" id="263" r:id="Raa2743eb34054e1c"/>
    <p:sldId xmlns:r="http://schemas.openxmlformats.org/officeDocument/2006/relationships" id="264" r:id="Rafab4e6294bc4441"/>
    <p:sldId xmlns:r="http://schemas.openxmlformats.org/officeDocument/2006/relationships" id="265" r:id="R0f1429b6e9b74c14"/>
    <p:sldId xmlns:r="http://schemas.openxmlformats.org/officeDocument/2006/relationships" id="266" r:id="R3a25dcaff2694eab"/>
    <p:sldId xmlns:r="http://schemas.openxmlformats.org/officeDocument/2006/relationships" id="267" r:id="Rdf699b2cabb84012"/>
    <p:sldId xmlns:r="http://schemas.openxmlformats.org/officeDocument/2006/relationships" id="268" r:id="Rbc10983a11484650"/>
    <p:sldId xmlns:r="http://schemas.openxmlformats.org/officeDocument/2006/relationships" id="269" r:id="Rc53f7617b12d4ab4"/>
    <p:sldId xmlns:r="http://schemas.openxmlformats.org/officeDocument/2006/relationships" id="270" r:id="R834c394a993c42e2"/>
    <p:sldId xmlns:r="http://schemas.openxmlformats.org/officeDocument/2006/relationships" id="271" r:id="Rc718c0be8b974fa8"/>
    <p:sldId xmlns:r="http://schemas.openxmlformats.org/officeDocument/2006/relationships" id="272" r:id="Rd17d4a80afe44864"/>
    <p:sldId xmlns:r="http://schemas.openxmlformats.org/officeDocument/2006/relationships" id="273" r:id="R1a8ba73277e14c84"/>
    <p:sldId xmlns:r="http://schemas.openxmlformats.org/officeDocument/2006/relationships" id="274" r:id="Rb06beb41156f46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94d55788924314" /><Relationship Type="http://schemas.openxmlformats.org/officeDocument/2006/relationships/slideMaster" Target="/ppt/slideMasters/slideMaster1.xml" Id="Rf22d9186c20a421e" /><Relationship Type="http://schemas.openxmlformats.org/officeDocument/2006/relationships/notesMaster" Target="/ppt/notesMasters/notesMaster1.xml" Id="R782e2908279243df" /><Relationship Type="http://schemas.openxmlformats.org/officeDocument/2006/relationships/presProps" Target="/ppt/presProps.xml" Id="R2c16218053ad4e4b" /><Relationship Type="http://schemas.openxmlformats.org/officeDocument/2006/relationships/tableStyles" Target="/ppt/tableStyles.xml" Id="R3b324d18fbae46d5" /><Relationship Type="http://schemas.openxmlformats.org/officeDocument/2006/relationships/slide" Target="/ppt/slides/slide1.xml" Id="Rcb590f129b1e4ec1" /><Relationship Type="http://schemas.openxmlformats.org/officeDocument/2006/relationships/slide" Target="/ppt/slides/slide2.xml" Id="R74e45a87ef304b2d" /><Relationship Type="http://schemas.openxmlformats.org/officeDocument/2006/relationships/slide" Target="/ppt/slides/slide3.xml" Id="R7a353db8b97345e7" /><Relationship Type="http://schemas.openxmlformats.org/officeDocument/2006/relationships/slide" Target="/ppt/slides/slide4.xml" Id="R14e69d1d00ae419a" /><Relationship Type="http://schemas.openxmlformats.org/officeDocument/2006/relationships/slide" Target="/ppt/slides/slide5.xml" Id="Rcdf9e3e3f2704253" /><Relationship Type="http://schemas.openxmlformats.org/officeDocument/2006/relationships/slide" Target="/ppt/slides/slide6.xml" Id="R7a7c7dd186094d85" /><Relationship Type="http://schemas.openxmlformats.org/officeDocument/2006/relationships/slide" Target="/ppt/slides/slide7.xml" Id="Raa4fa29fb47e46cb" /><Relationship Type="http://schemas.openxmlformats.org/officeDocument/2006/relationships/slide" Target="/ppt/slides/slide8.xml" Id="Raa2743eb34054e1c" /><Relationship Type="http://schemas.openxmlformats.org/officeDocument/2006/relationships/slide" Target="/ppt/slides/slide9.xml" Id="Rafab4e6294bc4441" /><Relationship Type="http://schemas.openxmlformats.org/officeDocument/2006/relationships/slide" Target="/ppt/slides/slide10.xml" Id="R0f1429b6e9b74c14" /><Relationship Type="http://schemas.openxmlformats.org/officeDocument/2006/relationships/slide" Target="/ppt/slides/slide11.xml" Id="R3a25dcaff2694eab" /><Relationship Type="http://schemas.openxmlformats.org/officeDocument/2006/relationships/slide" Target="/ppt/slides/slide12.xml" Id="Rdf699b2cabb84012" /><Relationship Type="http://schemas.openxmlformats.org/officeDocument/2006/relationships/slide" Target="/ppt/slides/slide13.xml" Id="Rbc10983a11484650" /><Relationship Type="http://schemas.openxmlformats.org/officeDocument/2006/relationships/slide" Target="/ppt/slides/slide14.xml" Id="Rc53f7617b12d4ab4" /><Relationship Type="http://schemas.openxmlformats.org/officeDocument/2006/relationships/slide" Target="/ppt/slides/slide15.xml" Id="R834c394a993c42e2" /><Relationship Type="http://schemas.openxmlformats.org/officeDocument/2006/relationships/slide" Target="/ppt/slides/slide16.xml" Id="Rc718c0be8b974fa8" /><Relationship Type="http://schemas.openxmlformats.org/officeDocument/2006/relationships/slide" Target="/ppt/slides/slide17.xml" Id="Rd17d4a80afe44864" /><Relationship Type="http://schemas.openxmlformats.org/officeDocument/2006/relationships/slide" Target="/ppt/slides/slide18.xml" Id="R1a8ba73277e14c84" /><Relationship Type="http://schemas.openxmlformats.org/officeDocument/2006/relationships/slide" Target="/ppt/slides/slide19.xml" Id="Rb06beb41156f46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989d0ee12a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08820e4bfa4c2c" /><Relationship Type="http://schemas.openxmlformats.org/officeDocument/2006/relationships/notesMaster" Target="/ppt/notesMasters/notesMaster1.xml" Id="R466b95b0911d42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30b82e9f2c429d" /><Relationship Type="http://schemas.openxmlformats.org/officeDocument/2006/relationships/notesMaster" Target="/ppt/notesMasters/notesMaster1.xml" Id="Rdd703dc00c2343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ef2b3282bf42cd" /><Relationship Type="http://schemas.openxmlformats.org/officeDocument/2006/relationships/notesMaster" Target="/ppt/notesMasters/notesMaster1.xml" Id="Ra695cf4ac79745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f55ecbc41a4273" /><Relationship Type="http://schemas.openxmlformats.org/officeDocument/2006/relationships/notesMaster" Target="/ppt/notesMasters/notesMaster1.xml" Id="R86dc08d0bc314b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052aa5dd3a4e1b" /><Relationship Type="http://schemas.openxmlformats.org/officeDocument/2006/relationships/notesMaster" Target="/ppt/notesMasters/notesMaster1.xml" Id="R89f6198a075c49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fd40ef65724cf6" /><Relationship Type="http://schemas.openxmlformats.org/officeDocument/2006/relationships/notesMaster" Target="/ppt/notesMasters/notesMaster1.xml" Id="Rd0b45df52e5643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9c4280a827415b" /><Relationship Type="http://schemas.openxmlformats.org/officeDocument/2006/relationships/notesMaster" Target="/ppt/notesMasters/notesMaster1.xml" Id="R6c67a34ec74d47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3e816d6a041f6" /><Relationship Type="http://schemas.openxmlformats.org/officeDocument/2006/relationships/notesMaster" Target="/ppt/notesMasters/notesMaster1.xml" Id="R8f84d57b4713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e457d5757a409b" /><Relationship Type="http://schemas.openxmlformats.org/officeDocument/2006/relationships/notesMaster" Target="/ppt/notesMasters/notesMaster1.xml" Id="R82cb703eb54a4b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9b7f91eabe40f5" /><Relationship Type="http://schemas.openxmlformats.org/officeDocument/2006/relationships/notesMaster" Target="/ppt/notesMasters/notesMaster1.xml" Id="R57f9d0ea2edb4a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160de7bd414255" /><Relationship Type="http://schemas.openxmlformats.org/officeDocument/2006/relationships/notesMaster" Target="/ppt/notesMasters/notesMaster1.xml" Id="R494c71a53ff142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cf57d6841e49a7" /><Relationship Type="http://schemas.openxmlformats.org/officeDocument/2006/relationships/notesMaster" Target="/ppt/notesMasters/notesMaster1.xml" Id="R02d88b9b611c41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98c1da80aa4ace" /><Relationship Type="http://schemas.openxmlformats.org/officeDocument/2006/relationships/notesMaster" Target="/ppt/notesMasters/notesMaster1.xml" Id="R2e7c2840c5854b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95ee5f1e024796" /><Relationship Type="http://schemas.openxmlformats.org/officeDocument/2006/relationships/notesMaster" Target="/ppt/notesMasters/notesMaster1.xml" Id="R07a8b87dbe1646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cbc89c4a044bb6" /><Relationship Type="http://schemas.openxmlformats.org/officeDocument/2006/relationships/notesMaster" Target="/ppt/notesMasters/notesMaster1.xml" Id="R58dbc23b4df644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2556133150442b" /><Relationship Type="http://schemas.openxmlformats.org/officeDocument/2006/relationships/notesMaster" Target="/ppt/notesMasters/notesMaster1.xml" Id="R8d198ff436d54d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566860a22c43dd" /><Relationship Type="http://schemas.openxmlformats.org/officeDocument/2006/relationships/notesMaster" Target="/ppt/notesMasters/notesMaster1.xml" Id="Ra501b4854e654b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221c87870e417b" /><Relationship Type="http://schemas.openxmlformats.org/officeDocument/2006/relationships/notesMaster" Target="/ppt/notesMasters/notesMaster1.xml" Id="Rb7d14d2a4e3e48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70e20a26054fb0" /><Relationship Type="http://schemas.openxmlformats.org/officeDocument/2006/relationships/notesMaster" Target="/ppt/notesMasters/notesMaster1.xml" Id="R7e01920ff2ea48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20 секунд.</a:t>
            </a:r>
          </a:p>
          <a:p xmlns:a="http://schemas.openxmlformats.org/drawingml/2006/main">
            <a:r>
              <a:t>Мы создаём помощника по официальной информации Казахстана. Его ключевая идея: объяснять документы понятным языком и проверять ответ перед показом. Сегодня представим команду, устройство системы и стоимость запроса.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роли команды подтверждены пользователем.</a:t>
            </a:r>
          </a:p>
          <a:p xmlns:a="http://schemas.openxmlformats.org/drawingml/2006/main">
            <a:r>
              <a:t>Фото: Bekarys Khozhanazar, https://unsplash.com/photos/Is8ARHv0ODw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30 секунд.</a:t>
            </a:r>
          </a:p>
          <a:p xmlns:a="http://schemas.openxmlformats.org/drawingml/2006/main">
            <a:r>
              <a:t>Пользователю нужно разобраться в официальных материалах. Сложность возникает не только при поиске: важно сохранить условия и исключения. Поэтому мы строим помощника с проверкой опоры на документы. Это постановка задачи, а не измерение распространённости ошибок.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backend/app/prompts.py; backend/README.md.</a:t>
            </a:r>
          </a:p>
          <a:p xmlns:a="http://schemas.openxmlformats.org/drawingml/2006/main">
            <a:r>
              <a:t>Фото: Will van Wingerden, https://unsplash.com/photos/dsvJgiBJTOs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Оба. 25 секунд.</a:t>
            </a:r>
          </a:p>
          <a:p xmlns:a="http://schemas.openxmlformats.org/drawingml/2006/main">
            <a:r>
              <a:t>Бахтияр: я отвечаю за ИИ-часть, поиск и проверку ответов. Эмиль: я отвечаю за интерфейс, языки и понятный путь пользователя. Распределение технических зон на слайде предложено для выступления исходя из названных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Пользователь: Бахтияр, ИИ-инженер; Эмиль, frontend.</a:t>
            </a:r>
          </a:p>
          <a:p xmlns:a="http://schemas.openxmlformats.org/drawingml/2006/main">
            <a:r>
              <a:t>Фото: Alejandro Escamilla, https://unsplash.com/photos/1SAnrIxw5OY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Эмиль. 30 секунд.</a:t>
            </a:r>
          </a:p>
          <a:p xmlns:a="http://schemas.openxmlformats.org/drawingml/2006/main">
            <a:r>
              <a:t>Пользователь выбирает русский или казахский. Интерфейс передаёт язык на сервер. В строгом режиме поиск выбирает фрагменты соответствующего языка, а модель отвечает на нём. Автоопределение тоже есть, но явный выбор надёжнее для коротких и смешанных вопросов. Примеры на слайде иллюстрируют ввод, не являются результатами тестирования.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frontend/adal-ai/frontend/src/i18n/ru.ts; kk.ts; backend/app/retrieval.py; backend/README.md.</a:t>
            </a:r>
          </a:p>
          <a:p xmlns:a="http://schemas.openxmlformats.org/drawingml/2006/main">
            <a:r>
              <a:t>Фото: Dmitry Sumskoy, https://unsplash.com/photos/YtYdNGabzFo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30 секунд.</a:t>
            </a:r>
          </a:p>
          <a:p xmlns:a="http://schemas.openxmlformats.org/drawingml/2006/main">
            <a:r>
              <a:t>Интерфейс отправляет вопрос в FastAPI. В строгом режиме сервер ищет фрагменты локального корпуса, вызывает генератор и проверяет результат. История браузера хранится отдельно в SQLite. Модели доступны через внешние API. Поиск BM25 работает локально и не является отдельной нейросетью.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backend/app/web.py; retrieval.py; service.py.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30 секунд.</a:t>
            </a:r>
          </a:p>
          <a:p xmlns:a="http://schemas.openxmlformats.org/drawingml/2006/main">
            <a:r>
              <a:t>Встроенный каталог содержит 37 официальных источников. Это количество записей каталога, а не гарантия, что все документы активированы или охватывают всё право. Сначала команда проверяет материал, затем включает в поиск. BM25 учитывает слова запроса, русские основы слов и небольшой словарь RU/KK. Во время ответа нет произвольного поиска по всему интернету.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backend/app/catalog.py; collector.py; library.py; retrieval.py; config.py.</a:t>
            </a:r>
          </a:p>
          <a:p xmlns:a="http://schemas.openxmlformats.org/drawingml/2006/main">
            <a:r>
              <a:t>Фото: Will van Wingerden, https://unsplash.com/photos/dsvJgiBJTOs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40 секунд.</a:t>
            </a:r>
          </a:p>
          <a:p xmlns:a="http://schemas.openxmlformats.org/drawingml/2006/main">
            <a:r>
              <a:t>DeepSeek используется для чата и может быть генератором в строгой цепочке. Gemini подключён как другой генератор и для аудио. Google Check Grounding оценивает подтверждённость текста. Критик получает вопрос, ответ и документы отдельным запросом. Важно: это роли, а не четыре обязательно разных нейросети. Версии Gemini и критика конфигурируются. Использование одной модели для разных ролей не делает ошибки независимыми.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backend/app/config.py; providers.py; audio.py; direct_chat.py.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40 секунд.</a:t>
            </a:r>
          </a:p>
          <a:p xmlns:a="http://schemas.openxmlformats.org/drawingml/2006/main">
            <a:r>
              <a:t>После генерации сначала работают детерминированные проверки. Google проверяет весь ответ и его утверждения. Затем критик оценивает соответствие вопросу и сохранность условий. Непрошедший текст не попадает пользователю. При отклонении возможна одна новая генерация с кодами ошибок, и проверки запускаются заново. При недоступности проверяющего сервиса система возвращает технический отказ.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backend/app/verification.py; service.py; prompts.py.</a:t>
            </a:r>
          </a:p>
          <a:p xmlns:a="http://schemas.openxmlformats.org/drawingml/2006/main">
            <a:r>
              <a:t>Фото: Alejandro Escamilla, https://unsplash.com/photos/1SAnrIxw5OY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40 секунд.</a:t>
            </a:r>
          </a:p>
          <a:p xmlns:a="http://schemas.openxmlformats.org/drawingml/2006/main">
            <a:r>
              <a:t>Под наградой мы понимаем положительную оценку ответа за соблюдение критериев. В текущем коде нет накопительных наград и обучения модели через reinforcement learning. Есть числовые оценки Google и обязательные статусы остальных этапов. Порог 0,95 действует для всего ответа и каждого утверждения. Складывать баллы так, чтобы один успех перекрыл провал, система не позволяет. Порог подбора цитат 0,8 выполняет другую задачу. Пороги требуют калибровки на размеченных вопросах RU/KK.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Пояснение пользователя; backend/app/config.py; verification.py; main.py.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Эмиль. 30 секунд.</a:t>
            </a:r>
          </a:p>
          <a:p xmlns:a="http://schemas.openxmlformats.org/drawingml/2006/main">
            <a:r>
              <a:t>Если надёжного подтверждения нет, лучше прямо сказать об этом. Сейчас строгий режим уже возвращает сообщение о недостаточности материалов и предлагает уточнить вопрос. На слайде целевой вариант текста с подтверждённым пользователем номером помощника. Автоматическое добавление телефона пока не реализовано в коде. Сам звонок или передача переписки не происходят автоматически.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backend/app/service.py: MESSAGES; номер и назначение подтверждены пользователем в этом чате.</a:t>
            </a:r>
          </a:p>
          <a:p xmlns:a="http://schemas.openxmlformats.org/drawingml/2006/main">
            <a:r>
              <a:t>Фото: Dmitry Sumskoy, https://unsplash.com/photos/YtYdNGabzFo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30 секунд.</a:t>
            </a:r>
          </a:p>
          <a:p xmlns:a="http://schemas.openxmlformats.org/drawingml/2006/main">
            <a:r>
              <a:t>Мы сравниваем архитектуру с простым чатом без обязательной проверки. В нашей строгой цепочке контроль встроен в сервер, а решение о показе не остаётся только генератору. Мы не утверждаем, что никто другой так не делает, и не заявляем победу над конкретным конкурентом без тестов. Проверки предназначены для снижения риска ошибок, но не дают абсолютной гарантии.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backend/app/service.py; verification.py; direct_chat.py.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30 секунд.</a:t>
            </a:r>
          </a:p>
          <a:p xmlns:a="http://schemas.openxmlformats.org/drawingml/2006/main">
            <a:r>
              <a:t>Backend написан на Python. FastAPI принимает запросы, Uvicorn запускает сервер. Pydantic проверяет структуры данных, pydantic-settings загружает настройки. HTTPX вызывает модели, google-auth нужен для Google Cloud. Парсеры извлекают текст документов. SnowballStemmer помогает русскому поиску, PyAV проверяет аудио. SQLite входит в стандартную библиотеку Python. Pydantic импортируется кодом и приходит через зависимости FastAPI и pydantic-settings.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backend/pyproject.toml; backend/app/providers.py; parsing.py; audio.py; web.py.</a:t>
            </a:r>
          </a:p>
          <a:p xmlns:a="http://schemas.openxmlformats.org/drawingml/2006/main">
            <a:r>
              <a:t>Фото: Alejandro Escamilla, https://unsplash.com/photos/1SAnrIxw5OY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Эмиль. 30 секунд.</a:t>
            </a:r>
          </a:p>
          <a:p xmlns:a="http://schemas.openxmlformats.org/drawingml/2006/main">
            <a:r>
              <a:t>React управляет интерфейсом. TypeScript помогает соблюдать контракт API. Markdown-библиотеки отображают ответы, а компонент SafeMarkdown контролирует ссылки. Vite собирает проект. PWA позволяет установить интерфейс, но ИИ требует сеть: ответы API не кэшируются для офлайн-работы. Для тестирования есть Vitest и Testing Library, для проверки кода ESLint.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frontend/adal-ai/frontend/package.json; vite.config.ts; src/components/SafeMarkdown.tsx.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45 секунд.</a:t>
            </a:r>
          </a:p>
          <a:p xmlns:a="http://schemas.openxmlformats.org/drawingml/2006/main">
            <a:r>
              <a:t>Это модель затрат, а не измеренный расход приложения. Общая формула: сумма входных токенов, умноженных на входной тариф, и выходных токенов, умноженных на выходной тариф, делённая на миллион, плюс проверка Google. Для обычного чата: (2000 × 0,15 + 200 × 0,60) / 1000000 = 0,00042 доллара. Для генератора 0,00126, для критика 0,00126. Оба вызова условно используют deepseek-flash. Вход включает инструкции и документы, выход должен учитывать все оплачиваемые токены, включая рассуждения. Реальные размеры, модель критика, кэш и время суток меняют цену. На 16.10.2026 peak тарифы DeepSeek вдвое выше.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https://api-docs.deepseek.com/quick_start/pricing/ ; проверено 16.10.2026. backend/app/providers.py; config.py.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35 секунд.</a:t>
            </a:r>
          </a:p>
          <a:p xmlns:a="http://schemas.openxmlformats.org/drawingml/2006/main">
            <a:r>
              <a:t>На странице Google Cloud Check Grounding указан базовый тариф 0,00075 доллара за 1000 count. Поэтому G = 0,00000075 доллара за проверку. Один цикл в нашем сценарии: 0,00252 + G = 0,00252075. Если 10 процентов запросов полностью повторяют цикл, средняя переменная стоимость равна 0,002772825. Добавим условные 10 долларов инфраструктуры на 10000 запросов: итог 0,003772825 доллара. Это допущения, не счёт Railway и не измеренная доля повторов. Для пикового тарифа DeepSeek аналогичный итог 0,006544825 доллара. Перевод в тенге: умножить долларовую стоимость на фактический курс оплаты. Аудио Gemini, налоги, комиссии, обслуживание корпуса и работа команды отдельно. Фактическая цена проверяется по биллингу. Ранний отказ может сократить число вызовов.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https://cloud.google.com/generative-ai-app-builder/pricing#check_grounding_api_pricing ; https://api-docs.deepseek.com/quick_start/pricing/ ; проверено 16.10.2026. Расчётные допущения явно указаны на слайде.</a:t>
            </a:r>
          </a:p>
          <a:p xmlns:a="http://schemas.openxmlformats.org/drawingml/2006/main">
            <a:r>
              <a:t>Фото: Alejandro Escamilla, https://unsplash.com/photos/1SAnrIxw5OY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35 секунд.</a:t>
            </a:r>
          </a:p>
          <a:p xmlns:a="http://schemas.openxmlformats.org/drawingml/2006/main">
            <a:r>
              <a:t>В README опубликованный сайт указан как работающий в режиме deepseek. У него нет строгой проверки по документам. Строгий путь реализован отдельно и требует настройки Google Cloud, критика и активированного корпуса. Текущую конфигурацию развёртывания перед выступлением нужно сверить. Не следует показывать ответ обычного режима как прошедший все проверки. Дальнейшая работа: экспертная разметка вопросов, измерение ошибок среди показанных ответов и доли отказов отдельно по языкам, настройка порогов. Контакт помощника добавляется к отказу как следующий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 раздел Railway; backend/app/direct_chat.py; service.py; main.py.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Оба. 20 секунд.</a:t>
            </a:r>
          </a:p>
          <a:p xmlns:a="http://schemas.openxmlformats.org/drawingml/2006/main">
            <a:r>
              <a:t>Бахтияр: наша цель состоит в том, чтобы каждый показанный ответ имел опору на официальные материалы. Эмиль: пользователь получает понятный интерфейс на двух языках и возможность обратиться за помощью. Мы готовы показать устройство проекта и ответить на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Содержание проекта и подтверждённый пользователем контакт.</a:t>
            </a:r>
          </a:p>
          <a:p xmlns:a="http://schemas.openxmlformats.org/drawingml/2006/main">
            <a:r>
              <a:t>Фото: Bekarys Khozhanazar, https://unsplash.com/photos/Is8ARHv0ODw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Бахтияр. 0 секунд.</a:t>
            </a:r>
          </a:p>
          <a:p xmlns:a="http://schemas.openxmlformats.org/drawingml/2006/main">
            <a:r>
              <a:t>Резерв для технических вопросов. Здесь перечислены все 12 прямых runtime-зависимостей и три dev-зависимости из pyproject.toml. Pydantic используется напрямую в коде, но отдельно в этом манифесте не объявлен. Транзитивное дерево содержится в requirements.lock. Это не список всех транзитивных пакетов.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backend/pyproject.toml; backend/requirements.lock.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Эмиль. 0 секунд.</a:t>
            </a:r>
          </a:p>
          <a:p xmlns:a="http://schemas.openxmlformats.org/drawingml/2006/main">
            <a:r>
              <a:t>Резерв для технических вопросов. На слайде все четыре runtime-зависимости и все 22 dev-зависимости package.json. Версии и краткое назначение сохранены в плане. Транзитивные пакеты не перечисляются.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frontend/adal-ai/frontend/package.json.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bfddfd72249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dc1cff72440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0f46014b84a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6bdf584c64d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2b1e8f36d4a1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f9c46f19f42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328270-DB44-4AD7-A097-D08C5172B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35A8A1-5C53-4CC0-A985-CE8F85A3EB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2DDEB8-D1FD-4FDD-AFD7-41F5ABC8E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F5DD75-9D8B-4916-A3F5-78B951B189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6B5878-BBD4-44A6-A8B9-98445BF1D1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5E8E3-7FBD-4433-8737-9B47F7144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1B3457-0C15-4DC5-B29B-FB757B3AA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40D834-54F0-4CAA-AFFF-AE019A52A4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81A4E4-1D7B-498F-BD53-AFC71D2D2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6BC035-B33B-4B49-BFE8-099F0D3F7C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66fa705b704877" /><Relationship Type="http://schemas.openxmlformats.org/officeDocument/2006/relationships/slideLayout" Target="/ppt/slideLayouts/slideLayout1.xml" Id="R36e543a2d2e44316" /><Relationship Type="http://schemas.openxmlformats.org/officeDocument/2006/relationships/slideLayout" Target="/ppt/slideLayouts/slideLayout2.xml" Id="R6f1271c8e6834ac9" /><Relationship Type="http://schemas.openxmlformats.org/officeDocument/2006/relationships/slideLayout" Target="/ppt/slideLayouts/slideLayout3.xml" Id="R0cb99978e1ab4782" /><Relationship Type="http://schemas.openxmlformats.org/officeDocument/2006/relationships/slideLayout" Target="/ppt/slideLayouts/slideLayout4.xml" Id="R7ed9b6605d594e45" /><Relationship Type="http://schemas.openxmlformats.org/officeDocument/2006/relationships/slideLayout" Target="/ppt/slideLayouts/slideLayout5.xml" Id="R6ec424cf480447db" /><Relationship Type="http://schemas.openxmlformats.org/officeDocument/2006/relationships/slideLayout" Target="/ppt/slideLayouts/slideLayout6.xml" Id="Rbe5f1083bdf849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e543a2d2e44316"/>
    <p:sldLayoutId xmlns:r="http://schemas.openxmlformats.org/officeDocument/2006/relationships" id="2147483650" r:id="R6f1271c8e6834ac9"/>
    <p:sldLayoutId xmlns:r="http://schemas.openxmlformats.org/officeDocument/2006/relationships" id="2147483651" r:id="R0cb99978e1ab4782"/>
    <p:sldLayoutId xmlns:r="http://schemas.openxmlformats.org/officeDocument/2006/relationships" id="2147483652" r:id="R7ed9b6605d594e45"/>
    <p:sldLayoutId xmlns:r="http://schemas.openxmlformats.org/officeDocument/2006/relationships" id="2147483653" r:id="R6ec424cf480447db"/>
    <p:sldLayoutId xmlns:r="http://schemas.openxmlformats.org/officeDocument/2006/relationships" id="2147483654" r:id="Rbe5f1083bdf849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cd9332d3a4ece" /><Relationship Type="http://schemas.openxmlformats.org/officeDocument/2006/relationships/image" Target="/ppt/media/image.jpeg" Id="Rdd7c4629271346f0" /><Relationship Type="http://schemas.openxmlformats.org/officeDocument/2006/relationships/notesSlide" Target="/ppt/notesSlides/notesSlide1.xml" Id="R7fb2a939493e40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83f53ad52459e" /><Relationship Type="http://schemas.openxmlformats.org/officeDocument/2006/relationships/image" Target="/ppt/media/image2.jpeg" Id="R6340843c55974fde" /><Relationship Type="http://schemas.openxmlformats.org/officeDocument/2006/relationships/notesSlide" Target="/ppt/notesSlides/notesSlide2.xml" Id="Rfa042f046586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f72a6d84f4476" /><Relationship Type="http://schemas.openxmlformats.org/officeDocument/2006/relationships/image" Target="/ppt/media/image3.jpeg" Id="R352cd1ab3a6249e2" /><Relationship Type="http://schemas.openxmlformats.org/officeDocument/2006/relationships/notesSlide" Target="/ppt/notesSlides/notesSlide3.xml" Id="R148aa038249741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a7bde9a3a41bd" /><Relationship Type="http://schemas.openxmlformats.org/officeDocument/2006/relationships/image" Target="/ppt/media/image4.jpeg" Id="Ref2c08a6f9a24439" /><Relationship Type="http://schemas.openxmlformats.org/officeDocument/2006/relationships/notesSlide" Target="/ppt/notesSlides/notesSlide4.xml" Id="Rcdbbc78426cd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0f8b4f73f43a2" /><Relationship Type="http://schemas.openxmlformats.org/officeDocument/2006/relationships/notesSlide" Target="/ppt/notesSlides/notesSlide5.xml" Id="R1eaf6c7f16f244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bbf5fc94e48f2" /><Relationship Type="http://schemas.openxmlformats.org/officeDocument/2006/relationships/image" Target="/ppt/media/image5.jpeg" Id="R4a31da8a4b0d4ac1" /><Relationship Type="http://schemas.openxmlformats.org/officeDocument/2006/relationships/notesSlide" Target="/ppt/notesSlides/notesSlide6.xml" Id="Re88f454c05624a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1b09756f64992" /><Relationship Type="http://schemas.openxmlformats.org/officeDocument/2006/relationships/notesSlide" Target="/ppt/notesSlides/notesSlide7.xml" Id="Ra9c04128626543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2e78687f7466d" /><Relationship Type="http://schemas.openxmlformats.org/officeDocument/2006/relationships/image" Target="/ppt/media/image6.jpeg" Id="R28e8a2542a2a4214" /><Relationship Type="http://schemas.openxmlformats.org/officeDocument/2006/relationships/notesSlide" Target="/ppt/notesSlides/notesSlide8.xml" Id="R37a6c9d0d55445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58489748046de" /><Relationship Type="http://schemas.openxmlformats.org/officeDocument/2006/relationships/notesSlide" Target="/ppt/notesSlides/notesSlide9.xml" Id="R1601168e736045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54db2443c4133" /><Relationship Type="http://schemas.openxmlformats.org/officeDocument/2006/relationships/image" Target="/ppt/media/image7.jpeg" Id="R0a3605cb3e6a433c" /><Relationship Type="http://schemas.openxmlformats.org/officeDocument/2006/relationships/notesSlide" Target="/ppt/notesSlides/notesSlide10.xml" Id="R5aeb95ef6e7840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b23b00a59438d" /><Relationship Type="http://schemas.openxmlformats.org/officeDocument/2006/relationships/notesSlide" Target="/ppt/notesSlides/notesSlide11.xml" Id="R27069e0b6d7c4a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d6ef56a93425f" /><Relationship Type="http://schemas.openxmlformats.org/officeDocument/2006/relationships/image" Target="/ppt/media/image8.jpeg" Id="Rb36061678f28434c" /><Relationship Type="http://schemas.openxmlformats.org/officeDocument/2006/relationships/notesSlide" Target="/ppt/notesSlides/notesSlide12.xml" Id="R0c07b20813564a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fe19b50204a70" /><Relationship Type="http://schemas.openxmlformats.org/officeDocument/2006/relationships/notesSlide" Target="/ppt/notesSlides/notesSlide13.xml" Id="R84b2b7ca419245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96e43358f4e8a" /><Relationship Type="http://schemas.openxmlformats.org/officeDocument/2006/relationships/notesSlide" Target="/ppt/notesSlides/notesSlide14.xml" Id="R43346c4cfb4041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a4c6fea9a4342" /><Relationship Type="http://schemas.openxmlformats.org/officeDocument/2006/relationships/image" Target="/ppt/media/image9.jpeg" Id="Rb2235dbbe3d44497" /><Relationship Type="http://schemas.openxmlformats.org/officeDocument/2006/relationships/notesSlide" Target="/ppt/notesSlides/notesSlide15.xml" Id="R325b9bdb8ed044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8a6c703a94a30" /><Relationship Type="http://schemas.openxmlformats.org/officeDocument/2006/relationships/notesSlide" Target="/ppt/notesSlides/notesSlide16.xml" Id="R5662c93ab7d246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c9d437d6149ac" /><Relationship Type="http://schemas.openxmlformats.org/officeDocument/2006/relationships/image" Target="/ppt/media/image10.jpeg" Id="Rff67063db6b24d74" /><Relationship Type="http://schemas.openxmlformats.org/officeDocument/2006/relationships/notesSlide" Target="/ppt/notesSlides/notesSlide17.xml" Id="R44d4a5498c3f4d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92b279ea245aa" /><Relationship Type="http://schemas.openxmlformats.org/officeDocument/2006/relationships/notesSlide" Target="/ppt/notesSlides/notesSlide18.xml" Id="R03b14c190dc944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362f3a55b4f73" /><Relationship Type="http://schemas.openxmlformats.org/officeDocument/2006/relationships/notesSlide" Target="/ppt/notesSlides/notesSlide19.xml" Id="R890bea0de52941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A74AC-5F1A-49BE-81FE-690C44B5F4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c4629271346f0"/>
          <a:srcRect xmlns:a="http://schemas.openxmlformats.org/drawingml/2006/main" l="0" t="28906" r="0" b="289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846BD-F742-4685-8CEE-D63FE633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2B30">
                  <a:alpha val="88000"/>
                </a:srgbClr>
              </a:gs>
              <a:gs pos="100000">
                <a:srgbClr val="082B30">
                  <a:alpha val="61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AF411ED1-B8EA-44E9-9A66-A7974C00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E7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ADAL AI">
            <a:extLst xmlns:a="http://schemas.openxmlformats.org/drawingml/2006/main">
              <a:ext uri="{FF2B5EF4-FFF2-40B4-BE49-F238E27FC236}">
                <a16:creationId xmlns:a16="http://schemas.microsoft.com/office/drawing/2014/main" id="{F665DAAE-C3B5-4202-9444-B223E8E3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ADAL AI</a:t>
            </a:r>
          </a:p>
        </p:txBody>
      </p:sp>
      <p:sp>
        <p:nvSpPr>
          <p:cNvPr id="5" name="ИИ-помощник по официальной&#10;информации Казахстана">
            <a:extLst xmlns:a="http://schemas.openxmlformats.org/drawingml/2006/main">
              <a:ext uri="{FF2B5EF4-FFF2-40B4-BE49-F238E27FC236}">
                <a16:creationId xmlns:a16="http://schemas.microsoft.com/office/drawing/2014/main" id="{C77000BA-D91A-4F33-A52E-56D5E440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ИИ-помощник по официальной</a:t>
            </a:r>
          </a:p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информации Казахстана</a:t>
            </a:r>
          </a:p>
        </p:txBody>
      </p:sp>
      <p:sp>
        <p:nvSpPr>
          <p:cNvPr id="6" name="Бахтияр и Эмиль">
            <a:extLst xmlns:a="http://schemas.openxmlformats.org/drawingml/2006/main">
              <a:ext uri="{FF2B5EF4-FFF2-40B4-BE49-F238E27FC236}">
                <a16:creationId xmlns:a16="http://schemas.microsoft.com/office/drawing/2014/main" id="{5F9169A2-D442-4B0E-B498-9144CEEF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Бахтияр и Эмиль</a:t>
            </a:r>
          </a:p>
        </p:txBody>
      </p:sp>
    </p:spTree>
    <p:extLst>
      <p:ext uri="{BB962C8B-B14F-4D97-AF65-F5344CB8AC3E}">
        <p14:creationId xmlns:p14="http://schemas.microsoft.com/office/powerpoint/2010/main" val="506132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B82B6-7B67-44A3-9EB9-CC5B40F46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0843c55974fde"/>
          <a:srcRect xmlns:a="http://schemas.openxmlformats.org/drawingml/2006/main" l="30833" t="0" r="3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0"/>
            <a:ext cx="3943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Почему нужен Adal AI">
            <a:extLst xmlns:a="http://schemas.openxmlformats.org/drawingml/2006/main">
              <a:ext uri="{FF2B5EF4-FFF2-40B4-BE49-F238E27FC236}">
                <a16:creationId xmlns:a16="http://schemas.microsoft.com/office/drawing/2014/main" id="{0B11B936-F2A7-4758-AE32-678F2F4F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334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Почему нужен Adal AI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D7ED023-ED15-4CC8-B3CB-4D958FB8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Документ найти недостаточно">
            <a:extLst xmlns:a="http://schemas.openxmlformats.org/drawingml/2006/main">
              <a:ext uri="{FF2B5EF4-FFF2-40B4-BE49-F238E27FC236}">
                <a16:creationId xmlns:a16="http://schemas.microsoft.com/office/drawing/2014/main" id="{0E7E0A6E-22D5-408E-8405-5D2EB82F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Документ найти недостаточно</a:t>
            </a:r>
          </a:p>
        </p:txBody>
      </p:sp>
      <p:sp>
        <p:nvSpPr>
          <p:cNvPr id="5" name="Нужно понять формулировки,&#10;условия и действующую редакцию.">
            <a:extLst xmlns:a="http://schemas.openxmlformats.org/drawingml/2006/main">
              <a:ext uri="{FF2B5EF4-FFF2-40B4-BE49-F238E27FC236}">
                <a16:creationId xmlns:a16="http://schemas.microsoft.com/office/drawing/2014/main" id="{16D9451E-3737-4320-94F2-D0B8523F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695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Нужно понять формулировки,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условия и действующую редакцию.</a:t>
            </a:r>
          </a:p>
        </p:txBody>
      </p:sp>
      <p:sp>
        <p:nvSpPr>
          <p:cNvPr id="6" name="Ошибка может изменить смысл">
            <a:extLst xmlns:a="http://schemas.openxmlformats.org/drawingml/2006/main">
              <a:ext uri="{FF2B5EF4-FFF2-40B4-BE49-F238E27FC236}">
                <a16:creationId xmlns:a16="http://schemas.microsoft.com/office/drawing/2014/main" id="{67E073CA-E8A4-44CC-8427-7B451BFE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Ошибка может изменить смысл</a:t>
            </a:r>
          </a:p>
        </p:txBody>
      </p:sp>
      <p:sp>
        <p:nvSpPr>
          <p:cNvPr id="7" name="Уверенный текст ИИ ещё не означает,&#10;что вывод подтверждён источником.">
            <a:extLst xmlns:a="http://schemas.openxmlformats.org/drawingml/2006/main">
              <a:ext uri="{FF2B5EF4-FFF2-40B4-BE49-F238E27FC236}">
                <a16:creationId xmlns:a16="http://schemas.microsoft.com/office/drawing/2014/main" id="{0A4C935A-1CD9-4383-AD64-AC3E688D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695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Уверенный текст ИИ ещё не означает,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что вывод подтверждён источником.</a:t>
            </a:r>
          </a:p>
        </p:txBody>
      </p:sp>
    </p:spTree>
    <p:extLst>
      <p:ext uri="{BB962C8B-B14F-4D97-AF65-F5344CB8AC3E}">
        <p14:creationId xmlns:p14="http://schemas.microsoft.com/office/powerpoint/2010/main" val="531195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5B566-12A4-4359-9F2E-5DC5F7D29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cd1ab3a6249e2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0917F-DD9A-40AA-9E88-B10AFD90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2B30">
                  <a:alpha val="88000"/>
                </a:srgbClr>
              </a:gs>
              <a:gs pos="100000">
                <a:srgbClr val="082B30">
                  <a:alpha val="61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Команда из двух человек">
            <a:extLst xmlns:a="http://schemas.openxmlformats.org/drawingml/2006/main">
              <a:ext uri="{FF2B5EF4-FFF2-40B4-BE49-F238E27FC236}">
                <a16:creationId xmlns:a16="http://schemas.microsoft.com/office/drawing/2014/main" id="{B7673D5B-76DE-4CC2-B75D-ABFE8506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из двух человек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B95C7996-2F17-4F74-9577-EE6458E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E7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Бахтияр">
            <a:extLst xmlns:a="http://schemas.openxmlformats.org/drawingml/2006/main">
              <a:ext uri="{FF2B5EF4-FFF2-40B4-BE49-F238E27FC236}">
                <a16:creationId xmlns:a16="http://schemas.microsoft.com/office/drawing/2014/main" id="{97DCFD2D-E09D-4DB1-8CF1-9236F6F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Бахтияр</a:t>
            </a:r>
          </a:p>
        </p:txBody>
      </p:sp>
      <p:sp>
        <p:nvSpPr>
          <p:cNvPr id="6" name="ИИ-инженер">
            <a:extLst xmlns:a="http://schemas.openxmlformats.org/drawingml/2006/main">
              <a:ext uri="{FF2B5EF4-FFF2-40B4-BE49-F238E27FC236}">
                <a16:creationId xmlns:a16="http://schemas.microsoft.com/office/drawing/2014/main" id="{4874DC71-8B11-4F27-BD73-A34CDCE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ИИ-инженер</a:t>
            </a:r>
          </a:p>
        </p:txBody>
      </p:sp>
      <p:sp>
        <p:nvSpPr>
          <p:cNvPr id="7" name="Модели и поиск по документам&#10;Проверка ответов и серверная логика">
            <a:extLst xmlns:a="http://schemas.openxmlformats.org/drawingml/2006/main">
              <a:ext uri="{FF2B5EF4-FFF2-40B4-BE49-F238E27FC236}">
                <a16:creationId xmlns:a16="http://schemas.microsoft.com/office/drawing/2014/main" id="{94003E96-A15F-424D-AADC-FDC6CC25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Модели и поиск по документам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ответов и серверная логика</a:t>
            </a:r>
          </a:p>
        </p:txBody>
      </p:sp>
      <p:sp>
        <p:nvSpPr>
          <p:cNvPr id="8" name="Эмиль">
            <a:extLst xmlns:a="http://schemas.openxmlformats.org/drawingml/2006/main">
              <a:ext uri="{FF2B5EF4-FFF2-40B4-BE49-F238E27FC236}">
                <a16:creationId xmlns:a16="http://schemas.microsoft.com/office/drawing/2014/main" id="{ABA2F9F9-0965-4928-BF2D-9D6A8084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241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Эмиль</a:t>
            </a:r>
          </a:p>
        </p:txBody>
      </p:sp>
      <p:sp>
        <p:nvSpPr>
          <p:cNvPr id="9" name="Frontend-разработчик">
            <a:extLst xmlns:a="http://schemas.openxmlformats.org/drawingml/2006/main">
              <a:ext uri="{FF2B5EF4-FFF2-40B4-BE49-F238E27FC236}">
                <a16:creationId xmlns:a16="http://schemas.microsoft.com/office/drawing/2014/main" id="{4F6EEEC1-01C4-4D0A-9B9E-5CF59628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Frontend-разработчик</a:t>
            </a:r>
          </a:p>
        </p:txBody>
      </p:sp>
      <p:sp>
        <p:nvSpPr>
          <p:cNvPr id="10" name="Интерфейс и два языка&#10;Диалог, источники и удобство работы">
            <a:extLst xmlns:a="http://schemas.openxmlformats.org/drawingml/2006/main">
              <a:ext uri="{FF2B5EF4-FFF2-40B4-BE49-F238E27FC236}">
                <a16:creationId xmlns:a16="http://schemas.microsoft.com/office/drawing/2014/main" id="{D9D38E66-861A-42CA-BA48-96B4DCF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100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Интерфейс и два языка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Диалог, источники и удобство работы</a:t>
            </a:r>
          </a:p>
        </p:txBody>
      </p:sp>
    </p:spTree>
    <p:extLst>
      <p:ext uri="{BB962C8B-B14F-4D97-AF65-F5344CB8AC3E}">
        <p14:creationId xmlns:p14="http://schemas.microsoft.com/office/powerpoint/2010/main" val="1446497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0737E-825B-407C-BBA9-936EC370BC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c08a6f9a244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65733-D89A-423A-9E0E-6FDF86F9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2B30">
                  <a:alpha val="88000"/>
                </a:srgbClr>
              </a:gs>
              <a:gs pos="100000">
                <a:srgbClr val="082B30">
                  <a:alpha val="61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Русский и қазақша">
            <a:extLst xmlns:a="http://schemas.openxmlformats.org/drawingml/2006/main">
              <a:ext uri="{FF2B5EF4-FFF2-40B4-BE49-F238E27FC236}">
                <a16:creationId xmlns:a16="http://schemas.microsoft.com/office/drawing/2014/main" id="{3116CE1D-A6A2-4A66-BDB3-DEC549AE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Русский и қазақша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8732770A-EC58-4DD0-B671-B6F6DF28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E7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U">
            <a:extLst xmlns:a="http://schemas.openxmlformats.org/drawingml/2006/main">
              <a:ext uri="{FF2B5EF4-FFF2-40B4-BE49-F238E27FC236}">
                <a16:creationId xmlns:a16="http://schemas.microsoft.com/office/drawing/2014/main" id="{E2C05721-8805-4203-A6B8-230543AD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857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95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95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795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RU</a:t>
            </a:r>
          </a:p>
        </p:txBody>
      </p:sp>
      <p:sp>
        <p:nvSpPr>
          <p:cNvPr id="6" name="KK">
            <a:extLst xmlns:a="http://schemas.openxmlformats.org/drawingml/2006/main">
              <a:ext uri="{FF2B5EF4-FFF2-40B4-BE49-F238E27FC236}">
                <a16:creationId xmlns:a16="http://schemas.microsoft.com/office/drawing/2014/main" id="{5B1893C8-915C-4016-9AA5-3A1EAC51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38350"/>
            <a:ext cx="4857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95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95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795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7" name="«Как найти нужный&#10;официальный документ?»">
            <a:extLst xmlns:a="http://schemas.openxmlformats.org/drawingml/2006/main">
              <a:ext uri="{FF2B5EF4-FFF2-40B4-BE49-F238E27FC236}">
                <a16:creationId xmlns:a16="http://schemas.microsoft.com/office/drawing/2014/main" id="{6A178F6F-78DC-4A07-8B19-F5B726A6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«Как найти нужный</a:t>
            </a:r>
          </a:p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официальный документ?»</a:t>
            </a:r>
          </a:p>
        </p:txBody>
      </p:sp>
      <p:sp>
        <p:nvSpPr>
          <p:cNvPr id="8" name="«Қажетті ресми құжатты&#10;қалай табуға болады?»">
            <a:extLst xmlns:a="http://schemas.openxmlformats.org/drawingml/2006/main">
              <a:ext uri="{FF2B5EF4-FFF2-40B4-BE49-F238E27FC236}">
                <a16:creationId xmlns:a16="http://schemas.microsoft.com/office/drawing/2014/main" id="{3F98A93D-6EFD-43AF-88AF-B1B1B984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7187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«Қажетті ресми құжатты</a:t>
            </a:r>
          </a:p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қалай табуға болады?»</a:t>
            </a:r>
          </a:p>
        </p:txBody>
      </p:sp>
      <p:sp>
        <p:nvSpPr>
          <p:cNvPr id="9" name="Выбор языка интерфейса, ответа и поиска по документам">
            <a:extLst xmlns:a="http://schemas.openxmlformats.org/drawingml/2006/main">
              <a:ext uri="{FF2B5EF4-FFF2-40B4-BE49-F238E27FC236}">
                <a16:creationId xmlns:a16="http://schemas.microsoft.com/office/drawing/2014/main" id="{51DF17C8-E320-4599-B444-24F5DF82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Выбор языка интерфейса, ответа и поиска по документам</a:t>
            </a:r>
          </a:p>
        </p:txBody>
      </p:sp>
    </p:spTree>
    <p:extLst>
      <p:ext uri="{BB962C8B-B14F-4D97-AF65-F5344CB8AC3E}">
        <p14:creationId xmlns:p14="http://schemas.microsoft.com/office/powerpoint/2010/main" val="1567846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уть вопроса в системе">
            <a:extLst xmlns:a="http://schemas.openxmlformats.org/drawingml/2006/main">
              <a:ext uri="{FF2B5EF4-FFF2-40B4-BE49-F238E27FC236}">
                <a16:creationId xmlns:a16="http://schemas.microsoft.com/office/drawing/2014/main" id="{1EAC3362-2B26-49B1-8F7F-841D661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Путь вопроса в системе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A45D172A-AD1A-4B66-95B5-972824BE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01  Интерфейс">
            <a:extLst xmlns:a="http://schemas.openxmlformats.org/drawingml/2006/main">
              <a:ext uri="{FF2B5EF4-FFF2-40B4-BE49-F238E27FC236}">
                <a16:creationId xmlns:a16="http://schemas.microsoft.com/office/drawing/2014/main" id="{D2D7A86B-B430-4488-BC3A-BE7A2FD9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01  Интерфейс</a:t>
            </a:r>
          </a:p>
        </p:txBody>
      </p:sp>
      <p:sp>
        <p:nvSpPr>
          <p:cNvPr id="4" name="React принимает вопрос&#10;и выбранный язык.">
            <a:extLst xmlns:a="http://schemas.openxmlformats.org/drawingml/2006/main">
              <a:ext uri="{FF2B5EF4-FFF2-40B4-BE49-F238E27FC236}">
                <a16:creationId xmlns:a16="http://schemas.microsoft.com/office/drawing/2014/main" id="{39B39A40-711B-485D-AADB-866F6568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React принимает вопрос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и выбранный язык.</a:t>
            </a:r>
          </a:p>
        </p:txBody>
      </p:sp>
      <p:sp>
        <p:nvSpPr>
          <p:cNvPr id="5" name="02  Сервер">
            <a:extLst xmlns:a="http://schemas.openxmlformats.org/drawingml/2006/main">
              <a:ext uri="{FF2B5EF4-FFF2-40B4-BE49-F238E27FC236}">
                <a16:creationId xmlns:a16="http://schemas.microsoft.com/office/drawing/2014/main" id="{D8B59FD3-676A-444D-9A6E-08B50A48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02  Сервер</a:t>
            </a:r>
          </a:p>
        </p:txBody>
      </p:sp>
      <p:sp>
        <p:nvSpPr>
          <p:cNvPr id="6" name="FastAPI запускает поиск&#10;и выбранный режим ответа.">
            <a:extLst xmlns:a="http://schemas.openxmlformats.org/drawingml/2006/main">
              <a:ext uri="{FF2B5EF4-FFF2-40B4-BE49-F238E27FC236}">
                <a16:creationId xmlns:a16="http://schemas.microsoft.com/office/drawing/2014/main" id="{078041EA-16D2-46CB-BF42-46F17086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9080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FastAPI запускает поиск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и выбранный режим ответа.</a:t>
            </a:r>
          </a:p>
        </p:txBody>
      </p:sp>
      <p:sp>
        <p:nvSpPr>
          <p:cNvPr id="7" name="03  Документы и ИИ">
            <a:extLst xmlns:a="http://schemas.openxmlformats.org/drawingml/2006/main">
              <a:ext uri="{FF2B5EF4-FFF2-40B4-BE49-F238E27FC236}">
                <a16:creationId xmlns:a16="http://schemas.microsoft.com/office/drawing/2014/main" id="{AC0BC573-5243-4B51-ACED-D5688707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03  Документы и ИИ</a:t>
            </a:r>
          </a:p>
        </p:txBody>
      </p:sp>
      <p:sp>
        <p:nvSpPr>
          <p:cNvPr id="8" name="BM25 находит фрагменты.&#10;Модель формулирует ответ.">
            <a:extLst xmlns:a="http://schemas.openxmlformats.org/drawingml/2006/main">
              <a:ext uri="{FF2B5EF4-FFF2-40B4-BE49-F238E27FC236}">
                <a16:creationId xmlns:a16="http://schemas.microsoft.com/office/drawing/2014/main" id="{81512538-611E-485C-8912-4DDF7361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BM25 находит фрагменты.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Модель формулирует ответ.</a:t>
            </a:r>
          </a:p>
        </p:txBody>
      </p:sp>
      <p:sp>
        <p:nvSpPr>
          <p:cNvPr id="9" name="04  Результат">
            <a:extLst xmlns:a="http://schemas.openxmlformats.org/drawingml/2006/main">
              <a:ext uri="{FF2B5EF4-FFF2-40B4-BE49-F238E27FC236}">
                <a16:creationId xmlns:a16="http://schemas.microsoft.com/office/drawing/2014/main" id="{8BBC0AAE-5DC7-44ED-A961-DD86F705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00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04  Результат</a:t>
            </a:r>
          </a:p>
        </p:txBody>
      </p:sp>
      <p:sp>
        <p:nvSpPr>
          <p:cNvPr id="10" name="В строгом режиме ответ выходит&#10;только после всех проверок.">
            <a:extLst xmlns:a="http://schemas.openxmlformats.org/drawingml/2006/main">
              <a:ext uri="{FF2B5EF4-FFF2-40B4-BE49-F238E27FC236}">
                <a16:creationId xmlns:a16="http://schemas.microsoft.com/office/drawing/2014/main" id="{89F53F56-3F28-46D3-ABD2-3DA0885C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9105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В строгом режиме ответ выходит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только после всех проверок.</a:t>
            </a:r>
          </a:p>
        </p:txBody>
      </p:sp>
    </p:spTree>
    <p:extLst>
      <p:ext uri="{BB962C8B-B14F-4D97-AF65-F5344CB8AC3E}">
        <p14:creationId xmlns:p14="http://schemas.microsoft.com/office/powerpoint/2010/main" val="178001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8ED29-2413-4A02-AA17-B90CFD435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1da8a4b0d4ac1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970AC-F33D-400A-BDC5-B16C18A7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2B30">
                  <a:alpha val="88000"/>
                </a:srgbClr>
              </a:gs>
              <a:gs pos="100000">
                <a:srgbClr val="082B30">
                  <a:alpha val="61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Официальные источники">
            <a:extLst xmlns:a="http://schemas.openxmlformats.org/drawingml/2006/main">
              <a:ext uri="{FF2B5EF4-FFF2-40B4-BE49-F238E27FC236}">
                <a16:creationId xmlns:a16="http://schemas.microsoft.com/office/drawing/2014/main" id="{3B51F83F-A2E2-41CA-B497-A28A4E7C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Официальные источники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31356280-6DC3-4617-B995-99E789BD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E7D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37">
            <a:extLst xmlns:a="http://schemas.openxmlformats.org/drawingml/2006/main">
              <a:ext uri="{FF2B5EF4-FFF2-40B4-BE49-F238E27FC236}">
                <a16:creationId xmlns:a16="http://schemas.microsoft.com/office/drawing/2014/main" id="{A3F5A50A-685D-4529-9745-901B818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1050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6" name="источников в каталоге">
            <a:extLst xmlns:a="http://schemas.openxmlformats.org/drawingml/2006/main">
              <a:ext uri="{FF2B5EF4-FFF2-40B4-BE49-F238E27FC236}">
                <a16:creationId xmlns:a16="http://schemas.microsoft.com/office/drawing/2014/main" id="{E0FABB3B-E5C1-405A-ACF0-ECD14970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источников в каталоге</a:t>
            </a:r>
          </a:p>
        </p:txBody>
      </p:sp>
      <p:sp>
        <p:nvSpPr>
          <p:cNvPr id="7" name="«Әділет» и Акорда&#10;Ссылка, редакция и дата проверки&#10;Просмотр документа ">
            <a:extLst xmlns:a="http://schemas.openxmlformats.org/drawingml/2006/main">
              <a:ext uri="{FF2B5EF4-FFF2-40B4-BE49-F238E27FC236}">
                <a16:creationId xmlns:a16="http://schemas.microsoft.com/office/drawing/2014/main" id="{761AA168-9064-4A92-84DE-9DB8738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4610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«Әділет» и Акорда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Ссылка, редакция и дата проверки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Просмотр документа перед активацией</a:t>
            </a:r>
          </a:p>
        </p:txBody>
      </p:sp>
      <p:sp>
        <p:nvSpPr>
          <p:cNvPr id="8" name="В ответ попадают до 5 фрагментов, всего до 30 000 символов">
            <a:extLst xmlns:a="http://schemas.openxmlformats.org/drawingml/2006/main">
              <a:ext uri="{FF2B5EF4-FFF2-40B4-BE49-F238E27FC236}">
                <a16:creationId xmlns:a16="http://schemas.microsoft.com/office/drawing/2014/main" id="{314AEA3C-E8C9-47AE-9F9D-EB8A9830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ответ попадают до 5 фрагментов, всего до 30 000 символов</a:t>
            </a:r>
          </a:p>
        </p:txBody>
      </p:sp>
    </p:spTree>
    <p:extLst>
      <p:ext uri="{BB962C8B-B14F-4D97-AF65-F5344CB8AC3E}">
        <p14:creationId xmlns:p14="http://schemas.microsoft.com/office/powerpoint/2010/main" val="393423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Какие ИИ мы подключаем">
            <a:extLst xmlns:a="http://schemas.openxmlformats.org/drawingml/2006/main">
              <a:ext uri="{FF2B5EF4-FFF2-40B4-BE49-F238E27FC236}">
                <a16:creationId xmlns:a16="http://schemas.microsoft.com/office/drawing/2014/main" id="{9D4F07AB-4489-45D5-A151-77C34D10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Какие ИИ мы подключаем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2A87994D-C29F-41F7-AED9-80D630B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D861B-8E16-48AB-A467-A2D7BE751F71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DeepSeek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Обычный чат или генерация ответа по документам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Gemini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Альтернативный генератор и расшифровка аудио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Google Check Grounding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Оценка опоры утверждений на найденные тексты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Модель-критик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вызов для проверки смысла и условий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</a:tbl>
          </a:graphicData>
        </a:graphic>
      </p:graphicFrame>
      <p:sp>
        <p:nvSpPr>
          <p:cNvPr id="4" name="DeepSeek по умолчанию: deepseek-flash. Gemini и критик задаются в наст">
            <a:extLst xmlns:a="http://schemas.openxmlformats.org/drawingml/2006/main">
              <a:ext uri="{FF2B5EF4-FFF2-40B4-BE49-F238E27FC236}">
                <a16:creationId xmlns:a16="http://schemas.microsoft.com/office/drawing/2014/main" id="{BA6ECC17-F991-4C4B-B172-07B5A9FD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DeepSeek по умолчанию: deepseek-flash. Gemini и критик задаются в настройках.</a:t>
            </a:r>
          </a:p>
        </p:txBody>
      </p:sp>
    </p:spTree>
    <p:extLst>
      <p:ext uri="{BB962C8B-B14F-4D97-AF65-F5344CB8AC3E}">
        <p14:creationId xmlns:p14="http://schemas.microsoft.com/office/powerpoint/2010/main" val="590226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73F99-C547-4B2A-8284-49EA97B21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8a2542a2a4214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D6CCC-A3F4-4AA2-A3FA-1604EDA6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2B30">
                  <a:alpha val="88000"/>
                </a:srgbClr>
              </a:gs>
              <a:gs pos="100000">
                <a:srgbClr val="082B30">
                  <a:alpha val="61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Защита от неточных ответов">
            <a:extLst xmlns:a="http://schemas.openxmlformats.org/drawingml/2006/main">
              <a:ext uri="{FF2B5EF4-FFF2-40B4-BE49-F238E27FC236}">
                <a16:creationId xmlns:a16="http://schemas.microsoft.com/office/drawing/2014/main" id="{79EC0471-AFE7-4450-AC73-A089123E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Защита от неточных ответов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B3AF161F-D60A-4432-B9FA-5ED8A8E3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E7D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01  Проверка кодом">
            <a:extLst xmlns:a="http://schemas.openxmlformats.org/drawingml/2006/main">
              <a:ext uri="{FF2B5EF4-FFF2-40B4-BE49-F238E27FC236}">
                <a16:creationId xmlns:a16="http://schemas.microsoft.com/office/drawing/2014/main" id="{8CAD0F33-7597-4387-BC20-8EAD3DC9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01  Проверка кодом</a:t>
            </a:r>
          </a:p>
        </p:txBody>
      </p:sp>
      <p:sp>
        <p:nvSpPr>
          <p:cNvPr id="6" name="Настоящие цитаты, ID источников,&#10;числа и запрет выдуманных ссылок.">
            <a:extLst xmlns:a="http://schemas.openxmlformats.org/drawingml/2006/main">
              <a:ext uri="{FF2B5EF4-FFF2-40B4-BE49-F238E27FC236}">
                <a16:creationId xmlns:a16="http://schemas.microsoft.com/office/drawing/2014/main" id="{9DD9AF59-3B07-4B3D-BAC8-4B74F60B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FEC"/>
                </a:solidFill>
                <a:latin typeface="Arial"/>
                <a:ea typeface="Arial"/>
                <a:cs typeface="Arial"/>
              </a:rPr>
              <a:t>Настоящие цитаты, ID источников,</a:t>
            </a:r>
          </a:p>
          <a:p xmlns:a="http://schemas.openxmlformats.org/drawingml/2006/main">
            <a: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FEC"/>
                </a:solidFill>
                <a:latin typeface="Arial"/>
                <a:ea typeface="Arial"/>
                <a:cs typeface="Arial"/>
              </a:rPr>
              <a:t>числа и запрет выдуманных ссылок.</a:t>
            </a:r>
          </a:p>
        </p:txBody>
      </p:sp>
      <p:sp>
        <p:nvSpPr>
          <p:cNvPr id="7" name="02  Google Grounding">
            <a:extLst xmlns:a="http://schemas.openxmlformats.org/drawingml/2006/main">
              <a:ext uri="{FF2B5EF4-FFF2-40B4-BE49-F238E27FC236}">
                <a16:creationId xmlns:a16="http://schemas.microsoft.com/office/drawing/2014/main" id="{5CA807AE-7290-41AB-BE46-7E04B189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02  Google Grounding</a:t>
            </a:r>
          </a:p>
        </p:txBody>
      </p:sp>
      <p:sp>
        <p:nvSpPr>
          <p:cNvPr id="8" name="Опора всего ответа&#10;и каждого утверждения на текст.">
            <a:extLst xmlns:a="http://schemas.openxmlformats.org/drawingml/2006/main">
              <a:ext uri="{FF2B5EF4-FFF2-40B4-BE49-F238E27FC236}">
                <a16:creationId xmlns:a16="http://schemas.microsoft.com/office/drawing/2014/main" id="{2B2E5533-BE1C-424D-97E3-FA1BD233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9080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FEC"/>
                </a:solidFill>
                <a:latin typeface="Arial"/>
                <a:ea typeface="Arial"/>
                <a:cs typeface="Arial"/>
              </a:rPr>
              <a:t>Опора всего ответа</a:t>
            </a:r>
          </a:p>
          <a:p xmlns:a="http://schemas.openxmlformats.org/drawingml/2006/main">
            <a: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FEC"/>
                </a:solidFill>
                <a:latin typeface="Arial"/>
                <a:ea typeface="Arial"/>
                <a:cs typeface="Arial"/>
              </a:rPr>
              <a:t>и каждого утверждения на текст.</a:t>
            </a:r>
          </a:p>
        </p:txBody>
      </p:sp>
      <p:sp>
        <p:nvSpPr>
          <p:cNvPr id="9" name="03  Модель-критик">
            <a:extLst xmlns:a="http://schemas.openxmlformats.org/drawingml/2006/main">
              <a:ext uri="{FF2B5EF4-FFF2-40B4-BE49-F238E27FC236}">
                <a16:creationId xmlns:a16="http://schemas.microsoft.com/office/drawing/2014/main" id="{CA4F2231-FCFC-4406-BA18-28666E4A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03  Модель-критик</a:t>
            </a:r>
          </a:p>
        </p:txBody>
      </p:sp>
      <p:sp>
        <p:nvSpPr>
          <p:cNvPr id="10" name="Смысл, отрицания, условия,&#10;исключения и ответ на вопрос.">
            <a:extLst xmlns:a="http://schemas.openxmlformats.org/drawingml/2006/main">
              <a:ext uri="{FF2B5EF4-FFF2-40B4-BE49-F238E27FC236}">
                <a16:creationId xmlns:a16="http://schemas.microsoft.com/office/drawing/2014/main" id="{0624E327-08DE-49DD-9A3E-B9654C30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FEC"/>
                </a:solidFill>
                <a:latin typeface="Arial"/>
                <a:ea typeface="Arial"/>
                <a:cs typeface="Arial"/>
              </a:rPr>
              <a:t>Смысл, отрицания, условия,</a:t>
            </a:r>
          </a:p>
          <a:p xmlns:a="http://schemas.openxmlformats.org/drawingml/2006/main">
            <a: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FEC"/>
                </a:solidFill>
                <a:latin typeface="Arial"/>
                <a:ea typeface="Arial"/>
                <a:cs typeface="Arial"/>
              </a:rPr>
              <a:t>исключения и ответ на вопрос.</a:t>
            </a:r>
          </a:p>
        </p:txBody>
      </p:sp>
      <p:sp>
        <p:nvSpPr>
          <p:cNvPr id="11" name="04  Решение сервера">
            <a:extLst xmlns:a="http://schemas.openxmlformats.org/drawingml/2006/main">
              <a:ext uri="{FF2B5EF4-FFF2-40B4-BE49-F238E27FC236}">
                <a16:creationId xmlns:a16="http://schemas.microsoft.com/office/drawing/2014/main" id="{AFC80B37-5846-476D-9E8A-588A129E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481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04  Решение сервера</a:t>
            </a:r>
          </a:p>
        </p:txBody>
      </p:sp>
      <p:sp>
        <p:nvSpPr>
          <p:cNvPr id="12" name="Показ, одна новая попытка&#10;или отказ от ответа.">
            <a:extLst xmlns:a="http://schemas.openxmlformats.org/drawingml/2006/main">
              <a:ext uri="{FF2B5EF4-FFF2-40B4-BE49-F238E27FC236}">
                <a16:creationId xmlns:a16="http://schemas.microsoft.com/office/drawing/2014/main" id="{677CBE02-FDC2-4E1F-B482-9FA5BCDB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38675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FEC"/>
                </a:solidFill>
                <a:latin typeface="Arial"/>
                <a:ea typeface="Arial"/>
                <a:cs typeface="Arial"/>
              </a:rPr>
              <a:t>Показ, одна новая попытка</a:t>
            </a:r>
          </a:p>
          <a:p xmlns:a="http://schemas.openxmlformats.org/drawingml/2006/main">
            <a:pPr>
              <a:defRPr sz="2025" b="0">
                <a:solidFill>
                  <a:srgbClr val="E5EF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FEC"/>
                </a:solidFill>
                <a:latin typeface="Arial"/>
                <a:ea typeface="Arial"/>
                <a:cs typeface="Arial"/>
              </a:rPr>
              <a:t>или отказ от ответа.</a:t>
            </a:r>
          </a:p>
        </p:txBody>
      </p:sp>
    </p:spTree>
    <p:extLst>
      <p:ext uri="{BB962C8B-B14F-4D97-AF65-F5344CB8AC3E}">
        <p14:creationId xmlns:p14="http://schemas.microsoft.com/office/powerpoint/2010/main" val="141997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Баллы ответа и критерии допуска">
            <a:extLst xmlns:a="http://schemas.openxmlformats.org/drawingml/2006/main">
              <a:ext uri="{FF2B5EF4-FFF2-40B4-BE49-F238E27FC236}">
                <a16:creationId xmlns:a16="http://schemas.microsoft.com/office/drawing/2014/main" id="{BAF6846A-D8EF-413F-A175-667FCAC2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Баллы ответа и критерии допуска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F1C3D459-FB1D-4A25-A731-B1756CB9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≥ 0,95">
            <a:extLst xmlns:a="http://schemas.openxmlformats.org/drawingml/2006/main">
              <a:ext uri="{FF2B5EF4-FFF2-40B4-BE49-F238E27FC236}">
                <a16:creationId xmlns:a16="http://schemas.microsoft.com/office/drawing/2014/main" id="{0A242E6D-CF6C-4548-A738-A7972BB6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38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125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125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7125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≥ 0,95</a:t>
            </a:r>
          </a:p>
        </p:txBody>
      </p:sp>
      <p:sp>
        <p:nvSpPr>
          <p:cNvPr id="4" name="оценка всего ответа">
            <a:extLst xmlns:a="http://schemas.openxmlformats.org/drawingml/2006/main">
              <a:ext uri="{FF2B5EF4-FFF2-40B4-BE49-F238E27FC236}">
                <a16:creationId xmlns:a16="http://schemas.microsoft.com/office/drawing/2014/main" id="{19A750BB-F517-4243-9574-CDF0CB28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оценка всего ответа</a:t>
            </a:r>
          </a:p>
        </p:txBody>
      </p:sp>
      <p:sp>
        <p:nvSpPr>
          <p:cNvPr id="5" name="≥ 0,95">
            <a:extLst xmlns:a="http://schemas.openxmlformats.org/drawingml/2006/main">
              <a:ext uri="{FF2B5EF4-FFF2-40B4-BE49-F238E27FC236}">
                <a16:creationId xmlns:a16="http://schemas.microsoft.com/office/drawing/2014/main" id="{EF1A9A18-6DC6-4A14-9962-6CD59C44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85975"/>
            <a:ext cx="4857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125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125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7125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≥ 0,95</a:t>
            </a:r>
          </a:p>
        </p:txBody>
      </p:sp>
      <p:sp>
        <p:nvSpPr>
          <p:cNvPr id="6" name="каждое утверждение">
            <a:extLst xmlns:a="http://schemas.openxmlformats.org/drawingml/2006/main">
              <a:ext uri="{FF2B5EF4-FFF2-40B4-BE49-F238E27FC236}">
                <a16:creationId xmlns:a16="http://schemas.microsoft.com/office/drawing/2014/main" id="{A269871D-8EEB-42B2-A42E-17CBDEF8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813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каждое утверждение</a:t>
            </a:r>
          </a:p>
        </p:txBody>
      </p:sp>
      <p:sp>
        <p:nvSpPr>
          <p:cNvPr id="7" name="Все этапы должны пройти проверку">
            <a:extLst xmlns:a="http://schemas.openxmlformats.org/drawingml/2006/main">
              <a:ext uri="{FF2B5EF4-FFF2-40B4-BE49-F238E27FC236}">
                <a16:creationId xmlns:a16="http://schemas.microsoft.com/office/drawing/2014/main" id="{9FA0A316-B8AF-4B86-8B7C-B5FB2E6F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Все этапы должны пройти проверку</a:t>
            </a:r>
          </a:p>
        </p:txBody>
      </p:sp>
      <p:sp>
        <p:nvSpPr>
          <p:cNvPr id="8" name="Высокий балл не перекрывает ошибку цитаты или отказ критика.&#10;Это оценк">
            <a:extLst xmlns:a="http://schemas.openxmlformats.org/drawingml/2006/main">
              <a:ext uri="{FF2B5EF4-FFF2-40B4-BE49-F238E27FC236}">
                <a16:creationId xmlns:a16="http://schemas.microsoft.com/office/drawing/2014/main" id="{E5A51E65-5A3D-4023-84D7-EEA8E1F4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Высокий балл не перекрывает ошибку цитаты или отказ критика.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Это оценка подтверждённости, а не 95% точности.</a:t>
            </a:r>
          </a:p>
        </p:txBody>
      </p:sp>
    </p:spTree>
    <p:extLst>
      <p:ext uri="{BB962C8B-B14F-4D97-AF65-F5344CB8AC3E}">
        <p14:creationId xmlns:p14="http://schemas.microsoft.com/office/powerpoint/2010/main" val="804997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40495-5D1C-46F8-A884-9204FEFD62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605cb3e6a43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46A54-7A0F-42DB-80E2-9747A387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2B30">
                  <a:alpha val="88000"/>
                </a:srgbClr>
              </a:gs>
              <a:gs pos="100000">
                <a:srgbClr val="082B30">
                  <a:alpha val="61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Когда подтверждения нет">
            <a:extLst xmlns:a="http://schemas.openxmlformats.org/drawingml/2006/main">
              <a:ext uri="{FF2B5EF4-FFF2-40B4-BE49-F238E27FC236}">
                <a16:creationId xmlns:a16="http://schemas.microsoft.com/office/drawing/2014/main" id="{F094B2EB-A446-48F2-A169-B94BE2BB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Когда подтверждения нет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7AE5678B-224A-440F-9486-F0C60FE5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E7D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«Я не могу подтвердить ответ.&#10;Уточните вопрос или обратитесь&#10;к помощни">
            <a:extLst xmlns:a="http://schemas.openxmlformats.org/drawingml/2006/main">
              <a:ext uri="{FF2B5EF4-FFF2-40B4-BE49-F238E27FC236}">
                <a16:creationId xmlns:a16="http://schemas.microsoft.com/office/drawing/2014/main" id="{E0FC93BB-67A8-44A4-83AE-286525D4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«Я не могу подтвердить ответ.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Уточните вопрос или обратитесь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 помощнику»</a:t>
            </a:r>
          </a:p>
        </p:txBody>
      </p:sp>
      <p:sp>
        <p:nvSpPr>
          <p:cNvPr id="6" name="+7 706 725 7286">
            <a:extLst xmlns:a="http://schemas.openxmlformats.org/drawingml/2006/main">
              <a:ext uri="{FF2B5EF4-FFF2-40B4-BE49-F238E27FC236}">
                <a16:creationId xmlns:a16="http://schemas.microsoft.com/office/drawing/2014/main" id="{AA86E37A-5C58-497D-BEC5-F9A30678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55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55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+7 706 725 7286</a:t>
            </a:r>
          </a:p>
        </p:txBody>
      </p:sp>
      <p:sp>
        <p:nvSpPr>
          <p:cNvPr id="7" name="Сценарий развития: добавить контакт к существующему отказу">
            <a:extLst xmlns:a="http://schemas.openxmlformats.org/drawingml/2006/main">
              <a:ext uri="{FF2B5EF4-FFF2-40B4-BE49-F238E27FC236}">
                <a16:creationId xmlns:a16="http://schemas.microsoft.com/office/drawing/2014/main" id="{56362054-B7D0-4E92-B531-2AB5D5C9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развития: добавить контакт к существующему отказу</a:t>
            </a:r>
          </a:p>
        </p:txBody>
      </p:sp>
    </p:spTree>
    <p:extLst>
      <p:ext uri="{BB962C8B-B14F-4D97-AF65-F5344CB8AC3E}">
        <p14:creationId xmlns:p14="http://schemas.microsoft.com/office/powerpoint/2010/main" val="2049918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Отличие в устройстве ответа">
            <a:extLst xmlns:a="http://schemas.openxmlformats.org/drawingml/2006/main">
              <a:ext uri="{FF2B5EF4-FFF2-40B4-BE49-F238E27FC236}">
                <a16:creationId xmlns:a16="http://schemas.microsoft.com/office/drawing/2014/main" id="{CEBC8E2B-6559-4508-A061-56D331CA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Отличие в устройстве ответа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44210DF4-392A-41D9-92CD-64EC958A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8368C-B904-43E2-8CC5-F2ABCC87F1F9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524250"/>
                <a:gridCol w="44958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Чат без проверки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Adal AI: строгий режим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Основа ответа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Контекст модели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Подготовленные документы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цитат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Не обязательна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Код сверяет с источниками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смысла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Нет отдельного этапа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Grounding и модель-критик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Недостаточно данных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Зависит от генератора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Сервер блокирует ответ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</a:tbl>
          </a:graphicData>
        </a:graphic>
      </p:graphicFrame>
      <p:sp>
        <p:nvSpPr>
          <p:cNvPr id="4" name="Сравнение подходов. Измеренное превосходство над конкретными сервисами">
            <a:extLst xmlns:a="http://schemas.openxmlformats.org/drawingml/2006/main">
              <a:ext uri="{FF2B5EF4-FFF2-40B4-BE49-F238E27FC236}">
                <a16:creationId xmlns:a16="http://schemas.microsoft.com/office/drawing/2014/main" id="{0FDAFDB7-CF8C-4A34-AA80-27EEEB34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Сравнение подходов. Измеренное превосходство над конкретными сервисами пока не заявляем.</a:t>
            </a:r>
          </a:p>
        </p:txBody>
      </p:sp>
    </p:spTree>
    <p:extLst>
      <p:ext uri="{BB962C8B-B14F-4D97-AF65-F5344CB8AC3E}">
        <p14:creationId xmlns:p14="http://schemas.microsoft.com/office/powerpoint/2010/main" val="2109029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786A4-7F03-414C-903B-23D9C5945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061678f28434c"/>
          <a:srcRect xmlns:a="http://schemas.openxmlformats.org/drawingml/2006/main" l="30833" t="0" r="3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0"/>
            <a:ext cx="3943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ackend: Python и FastAPI">
            <a:extLst xmlns:a="http://schemas.openxmlformats.org/drawingml/2006/main">
              <a:ext uri="{FF2B5EF4-FFF2-40B4-BE49-F238E27FC236}">
                <a16:creationId xmlns:a16="http://schemas.microsoft.com/office/drawing/2014/main" id="{40CAB205-6DA2-4C0B-9DF1-7FCA2E0D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334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Backend: Python и FastAPI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9AA20E6B-2CDA-459E-A2C7-ED31109A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API и контракты">
            <a:extLst xmlns:a="http://schemas.openxmlformats.org/drawingml/2006/main">
              <a:ext uri="{FF2B5EF4-FFF2-40B4-BE49-F238E27FC236}">
                <a16:creationId xmlns:a16="http://schemas.microsoft.com/office/drawing/2014/main" id="{3BB585FC-88A0-4591-A087-83BE5613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API и контракты</a:t>
            </a:r>
          </a:p>
        </p:txBody>
      </p:sp>
      <p:sp>
        <p:nvSpPr>
          <p:cNvPr id="5" name="FastAPI, Uvicorn, Pydantic&#10;и pydantic-settings">
            <a:extLst xmlns:a="http://schemas.openxmlformats.org/drawingml/2006/main">
              <a:ext uri="{FF2B5EF4-FFF2-40B4-BE49-F238E27FC236}">
                <a16:creationId xmlns:a16="http://schemas.microsoft.com/office/drawing/2014/main" id="{6C0A1F65-8EB6-43B3-9BD1-6D4F67E7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95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FastAPI, Uvicorn, Pydantic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и pydantic-settings</a:t>
            </a:r>
          </a:p>
        </p:txBody>
      </p:sp>
      <p:sp>
        <p:nvSpPr>
          <p:cNvPr id="6" name="Модели и документы">
            <a:extLst xmlns:a="http://schemas.openxmlformats.org/drawingml/2006/main">
              <a:ext uri="{FF2B5EF4-FFF2-40B4-BE49-F238E27FC236}">
                <a16:creationId xmlns:a16="http://schemas.microsoft.com/office/drawing/2014/main" id="{69C6640D-742E-4E4F-B623-817AA525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Модели и документы</a:t>
            </a:r>
          </a:p>
        </p:txBody>
      </p:sp>
      <p:sp>
        <p:nvSpPr>
          <p:cNvPr id="7" name="HTTPX, google-auth, pypdf,&#10;python-docx, BeautifulSoup и lxml">
            <a:extLst xmlns:a="http://schemas.openxmlformats.org/drawingml/2006/main">
              <a:ext uri="{FF2B5EF4-FFF2-40B4-BE49-F238E27FC236}">
                <a16:creationId xmlns:a16="http://schemas.microsoft.com/office/drawing/2014/main" id="{4D13B0CF-1345-4FBA-BFCD-5E460A07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695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HTTPX, google-auth, pypdf,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python-docx, BeautifulSoup и lxml</a:t>
            </a:r>
          </a:p>
        </p:txBody>
      </p:sp>
      <p:sp>
        <p:nvSpPr>
          <p:cNvPr id="8" name="SnowballStemmer для поиска. PyAV для аудио.&#10;SQLite хранит историю, JSO">
            <a:extLst xmlns:a="http://schemas.openxmlformats.org/drawingml/2006/main">
              <a:ext uri="{FF2B5EF4-FFF2-40B4-BE49-F238E27FC236}">
                <a16:creationId xmlns:a16="http://schemas.microsoft.com/office/drawing/2014/main" id="{BAD9CB35-128B-46EB-AC8B-2B470C64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SnowballStemmer для поиска. PyAV для аудио.</a:t>
            </a:r>
          </a:p>
          <a:p xmlns:a="http://schemas.openxmlformats.org/drawingml/2006/main">
            <a:pPr>
              <a:defRPr sz="18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SQLite хранит историю, JSONL хранит корпус.</a:t>
            </a:r>
          </a:p>
        </p:txBody>
      </p:sp>
    </p:spTree>
    <p:extLst>
      <p:ext uri="{BB962C8B-B14F-4D97-AF65-F5344CB8AC3E}">
        <p14:creationId xmlns:p14="http://schemas.microsoft.com/office/powerpoint/2010/main" val="14364846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rontend: React и TypeScript">
            <a:extLst xmlns:a="http://schemas.openxmlformats.org/drawingml/2006/main">
              <a:ext uri="{FF2B5EF4-FFF2-40B4-BE49-F238E27FC236}">
                <a16:creationId xmlns:a16="http://schemas.microsoft.com/office/drawing/2014/main" id="{FDAD37A4-D958-477E-AD91-AF1FBB00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Frontend: React и TypeScript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440EB257-FB59-40E0-94D1-A70E808D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eact + React DOM">
            <a:extLst xmlns:a="http://schemas.openxmlformats.org/drawingml/2006/main">
              <a:ext uri="{FF2B5EF4-FFF2-40B4-BE49-F238E27FC236}">
                <a16:creationId xmlns:a16="http://schemas.microsoft.com/office/drawing/2014/main" id="{F1C7E609-909C-45F1-B0E8-C133DABF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React + React DOM</a:t>
            </a:r>
          </a:p>
        </p:txBody>
      </p:sp>
      <p:sp>
        <p:nvSpPr>
          <p:cNvPr id="4" name="Диалог, история, источники&#10;и переключение языка.">
            <a:extLst xmlns:a="http://schemas.openxmlformats.org/drawingml/2006/main">
              <a:ext uri="{FF2B5EF4-FFF2-40B4-BE49-F238E27FC236}">
                <a16:creationId xmlns:a16="http://schemas.microsoft.com/office/drawing/2014/main" id="{B09E9D14-C1E7-45A3-B6B8-8A761AAA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Диалог, история, источники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и переключение языка.</a:t>
            </a:r>
          </a:p>
        </p:txBody>
      </p:sp>
      <p:sp>
        <p:nvSpPr>
          <p:cNvPr id="5" name="TypeScript + Vite">
            <a:extLst xmlns:a="http://schemas.openxmlformats.org/drawingml/2006/main">
              <a:ext uri="{FF2B5EF4-FFF2-40B4-BE49-F238E27FC236}">
                <a16:creationId xmlns:a16="http://schemas.microsoft.com/office/drawing/2014/main" id="{47A1FA77-4A54-463D-952E-89F92E4E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383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TypeScript + Vite</a:t>
            </a:r>
          </a:p>
        </p:txBody>
      </p:sp>
      <p:sp>
        <p:nvSpPr>
          <p:cNvPr id="6" name="Типизация данных&#10;и сборка веб-приложения.">
            <a:extLst xmlns:a="http://schemas.openxmlformats.org/drawingml/2006/main">
              <a:ext uri="{FF2B5EF4-FFF2-40B4-BE49-F238E27FC236}">
                <a16:creationId xmlns:a16="http://schemas.microsoft.com/office/drawing/2014/main" id="{0A4E69D8-7525-4334-AF58-D51627E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2890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Типизация данных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и сборка веб-приложения.</a:t>
            </a:r>
          </a:p>
        </p:txBody>
      </p:sp>
      <p:sp>
        <p:nvSpPr>
          <p:cNvPr id="7" name="react-markdown + remark-gfm">
            <a:extLst xmlns:a="http://schemas.openxmlformats.org/drawingml/2006/main">
              <a:ext uri="{FF2B5EF4-FFF2-40B4-BE49-F238E27FC236}">
                <a16:creationId xmlns:a16="http://schemas.microsoft.com/office/drawing/2014/main" id="{46044469-9683-46D6-9EE3-11E4D928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react-markdown + remark-gfm</a:t>
            </a:r>
          </a:p>
        </p:txBody>
      </p:sp>
      <p:sp>
        <p:nvSpPr>
          <p:cNvPr id="8" name="Отображение форматированного&#10;ответа с ограничением ссылок.">
            <a:extLst xmlns:a="http://schemas.openxmlformats.org/drawingml/2006/main">
              <a:ext uri="{FF2B5EF4-FFF2-40B4-BE49-F238E27FC236}">
                <a16:creationId xmlns:a16="http://schemas.microsoft.com/office/drawing/2014/main" id="{DA09EFC8-07FD-4EE4-B552-A5D820CD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Отображение форматированного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ответа с ограничением ссылок.</a:t>
            </a:r>
          </a:p>
        </p:txBody>
      </p:sp>
      <p:sp>
        <p:nvSpPr>
          <p:cNvPr id="9" name="Vite PWA + Workbox">
            <a:extLst xmlns:a="http://schemas.openxmlformats.org/drawingml/2006/main">
              <a:ext uri="{FF2B5EF4-FFF2-40B4-BE49-F238E27FC236}">
                <a16:creationId xmlns:a16="http://schemas.microsoft.com/office/drawing/2014/main" id="{FC983BB4-4A92-44B0-A745-DC07C700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862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Vite PWA + Workbox</a:t>
            </a:r>
          </a:p>
        </p:txBody>
      </p:sp>
      <p:sp>
        <p:nvSpPr>
          <p:cNvPr id="10" name="Установка как приложения.&#10;Кэшируется статика интерфейса.">
            <a:extLst xmlns:a="http://schemas.openxmlformats.org/drawingml/2006/main">
              <a:ext uri="{FF2B5EF4-FFF2-40B4-BE49-F238E27FC236}">
                <a16:creationId xmlns:a16="http://schemas.microsoft.com/office/drawing/2014/main" id="{4918CCF1-C17A-4C73-A897-B39213F0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76775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Установка как приложения.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Кэшируется статика 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9970451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Математика одного запроса">
            <a:extLst xmlns:a="http://schemas.openxmlformats.org/drawingml/2006/main">
              <a:ext uri="{FF2B5EF4-FFF2-40B4-BE49-F238E27FC236}">
                <a16:creationId xmlns:a16="http://schemas.microsoft.com/office/drawing/2014/main" id="{DD2733E2-D217-4510-AD1C-FBF565BA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Математика одного запроса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2A3DE429-9421-4EB4-888C-FDA0A835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Цена = токены × тариф + проверки">
            <a:extLst xmlns:a="http://schemas.openxmlformats.org/drawingml/2006/main">
              <a:ext uri="{FF2B5EF4-FFF2-40B4-BE49-F238E27FC236}">
                <a16:creationId xmlns:a16="http://schemas.microsoft.com/office/drawing/2014/main" id="{A52AA97D-F21F-4808-8803-59CA91F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Цена = токены × тариф + проверки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8262D-ABBC-4D28-83A2-24517E72A86A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3571875"/>
                <a:gridCol w="3209925"/>
              </a:tblGrid>
              <a:tr h="5562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Расчётный сценарий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Вход / выход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Цена LLM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Обычный чат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2 000 / 200 токенов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$0,00042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Генератор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6 000 / 600 токенов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$0,00126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Критик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6 800 / 400 токенов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$0,00126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Строгий цикл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12 800 / 1 000 суммарно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$0,00252 +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</a:tbl>
          </a:graphicData>
        </a:graphic>
      </p:graphicFrame>
      <p:sp>
        <p:nvSpPr>
          <p:cNvPr id="5" name="Допущения: оба вызова deepseek-flash, вне пика, без кэша.&#10;Тариф за 1 м">
            <a:extLst xmlns:a="http://schemas.openxmlformats.org/drawingml/2006/main">
              <a:ext uri="{FF2B5EF4-FFF2-40B4-BE49-F238E27FC236}">
                <a16:creationId xmlns:a16="http://schemas.microsoft.com/office/drawing/2014/main" id="{3D45C177-C4DA-4723-A26B-086ED8FD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810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Допущения: оба вызова deepseek-flash, вне пика, без кэша.</a:t>
            </a:r>
          </a:p>
          <a:p xmlns:a="http://schemas.openxmlformats.org/drawingml/2006/main">
            <a:pPr>
              <a:defRPr sz="17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Тариф за 1 млн токенов: $0,15 вход / $0,60 выход. G = Google Check Grounding.</a:t>
            </a:r>
          </a:p>
        </p:txBody>
      </p:sp>
    </p:spTree>
    <p:extLst>
      <p:ext uri="{BB962C8B-B14F-4D97-AF65-F5344CB8AC3E}">
        <p14:creationId xmlns:p14="http://schemas.microsoft.com/office/powerpoint/2010/main" val="13944280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4FE6C-AD19-4DF1-A264-7042DD9AE8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35dbbe3d4449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322CF-9EE4-441F-8EB4-0FCDD074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2B30">
                  <a:alpha val="88000"/>
                </a:srgbClr>
              </a:gs>
              <a:gs pos="100000">
                <a:srgbClr val="082B30">
                  <a:alpha val="61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Полная себестоимость">
            <a:extLst xmlns:a="http://schemas.openxmlformats.org/drawingml/2006/main">
              <a:ext uri="{FF2B5EF4-FFF2-40B4-BE49-F238E27FC236}">
                <a16:creationId xmlns:a16="http://schemas.microsoft.com/office/drawing/2014/main" id="{BFC69571-F44B-4060-8FC3-E1AA04D6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Полная себестоимость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0C38D0A4-35B2-4326-A79B-B95A718E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E7D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≈ $0,00377">
            <a:extLst xmlns:a="http://schemas.openxmlformats.org/drawingml/2006/main">
              <a:ext uri="{FF2B5EF4-FFF2-40B4-BE49-F238E27FC236}">
                <a16:creationId xmlns:a16="http://schemas.microsoft.com/office/drawing/2014/main" id="{6FD7A871-2DAE-4A78-BD87-7B5BC0E9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2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≈ $0,00377</a:t>
            </a:r>
          </a:p>
        </p:txBody>
      </p:sp>
      <p:sp>
        <p:nvSpPr>
          <p:cNvPr id="6" name="за запрос в условном сценарии">
            <a:extLst xmlns:a="http://schemas.openxmlformats.org/drawingml/2006/main">
              <a:ext uri="{FF2B5EF4-FFF2-40B4-BE49-F238E27FC236}">
                <a16:creationId xmlns:a16="http://schemas.microsoft.com/office/drawing/2014/main" id="{43E1784E-4D88-4199-8B13-86188A70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запрос в условном сценарии</a:t>
            </a:r>
          </a:p>
        </p:txBody>
      </p:sp>
      <p:sp>
        <p:nvSpPr>
          <p:cNvPr id="7" name="$0,00252075 × 1,10 + $10 / 10 000">
            <a:extLst xmlns:a="http://schemas.openxmlformats.org/drawingml/2006/main">
              <a:ext uri="{FF2B5EF4-FFF2-40B4-BE49-F238E27FC236}">
                <a16:creationId xmlns:a16="http://schemas.microsoft.com/office/drawing/2014/main" id="{40F7F37D-CB3E-493C-B3FA-4600BFC1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$0,00252075 × 1,10 + $10 / 10 000</a:t>
            </a:r>
          </a:p>
        </p:txBody>
      </p:sp>
      <p:sp>
        <p:nvSpPr>
          <p:cNvPr id="8" name="10% полных повторов. $10 в месяц на инфраструктуру.&#10;10 000 запросов в ">
            <a:extLst xmlns:a="http://schemas.openxmlformats.org/drawingml/2006/main">
              <a:ext uri="{FF2B5EF4-FFF2-40B4-BE49-F238E27FC236}">
                <a16:creationId xmlns:a16="http://schemas.microsoft.com/office/drawing/2014/main" id="{6D3604AA-C65D-4C0D-A958-AA3896F8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10% полных повторов. $10 в месяц на инфраструктуру.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10 000 запросов в месяц. Без аудио и труда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11959046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ва режима и готовность системы">
            <a:extLst xmlns:a="http://schemas.openxmlformats.org/drawingml/2006/main">
              <a:ext uri="{FF2B5EF4-FFF2-40B4-BE49-F238E27FC236}">
                <a16:creationId xmlns:a16="http://schemas.microsoft.com/office/drawing/2014/main" id="{9F8FBE25-D9E4-494F-87A8-657EDA53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Два режима и готовность системы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C72AAAD3-6594-405D-A1F9-D54E6E04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Обычный чат DeepSeek">
            <a:extLst xmlns:a="http://schemas.openxmlformats.org/drawingml/2006/main">
              <a:ext uri="{FF2B5EF4-FFF2-40B4-BE49-F238E27FC236}">
                <a16:creationId xmlns:a16="http://schemas.microsoft.com/office/drawing/2014/main" id="{10E15EE1-256D-4796-ACBB-E282B4C6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Обычный чат DeepSeek</a:t>
            </a:r>
          </a:p>
        </p:txBody>
      </p:sp>
      <p:sp>
        <p:nvSpPr>
          <p:cNvPr id="4" name="Ответ без проверки по корпусу.&#10;Пользователь видит предупреждение.">
            <a:extLst xmlns:a="http://schemas.openxmlformats.org/drawingml/2006/main">
              <a:ext uri="{FF2B5EF4-FFF2-40B4-BE49-F238E27FC236}">
                <a16:creationId xmlns:a16="http://schemas.microsoft.com/office/drawing/2014/main" id="{322D8582-0DEC-45C3-8DB8-760877A8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Ответ без проверки по корпусу.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Пользователь видит предупреждение.</a:t>
            </a:r>
          </a:p>
        </p:txBody>
      </p:sp>
      <p:sp>
        <p:nvSpPr>
          <p:cNvPr id="5" name="Строгий режим">
            <a:extLst xmlns:a="http://schemas.openxmlformats.org/drawingml/2006/main">
              <a:ext uri="{FF2B5EF4-FFF2-40B4-BE49-F238E27FC236}">
                <a16:creationId xmlns:a16="http://schemas.microsoft.com/office/drawing/2014/main" id="{2E16240B-089C-43EB-8D09-2A097B56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19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Строгий режим</a:t>
            </a:r>
          </a:p>
        </p:txBody>
      </p:sp>
      <p:sp>
        <p:nvSpPr>
          <p:cNvPr id="6" name="Поиск, цитаты, Grounding и критик.&#10;Нужны активные документы и API.">
            <a:extLst xmlns:a="http://schemas.openxmlformats.org/drawingml/2006/main">
              <a:ext uri="{FF2B5EF4-FFF2-40B4-BE49-F238E27FC236}">
                <a16:creationId xmlns:a16="http://schemas.microsoft.com/office/drawing/2014/main" id="{E0A1C3C8-DF73-4224-A7CF-7CDC13B6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09850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Поиск, цитаты, Grounding и критик.</a:t>
            </a:r>
          </a:p>
          <a:p xmlns:a="http://schemas.openxmlformats.org/drawingml/2006/main">
            <a:pPr>
              <a:defRPr sz="20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Нужны активные документы и API.</a:t>
            </a:r>
          </a:p>
        </p:txBody>
      </p:sp>
      <p:sp>
        <p:nvSpPr>
          <p:cNvPr id="7" name="Следующий шаг">
            <a:extLst xmlns:a="http://schemas.openxmlformats.org/drawingml/2006/main">
              <a:ext uri="{FF2B5EF4-FFF2-40B4-BE49-F238E27FC236}">
                <a16:creationId xmlns:a16="http://schemas.microsoft.com/office/drawing/2014/main" id="{BC75B534-2F11-41DD-AAA4-ADEE0ABB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7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7B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8" name="Оценить ошибки и отказы на отдельных наборах RU/KK,&#10;настроить пороги и">
            <a:extLst xmlns:a="http://schemas.openxmlformats.org/drawingml/2006/main">
              <a:ext uri="{FF2B5EF4-FFF2-40B4-BE49-F238E27FC236}">
                <a16:creationId xmlns:a16="http://schemas.microsoft.com/office/drawing/2014/main" id="{63534C78-EBF2-4F31-9A12-6B903FFB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3A3C"/>
                </a:solidFill>
                <a:latin typeface="Arial"/>
                <a:ea typeface="Arial"/>
                <a:cs typeface="Arial"/>
              </a:rPr>
              <a:t>Оценить ошибки и отказы на отдельных наборах RU/KK,</a:t>
            </a:r>
          </a:p>
          <a:p xmlns:a="http://schemas.openxmlformats.org/drawingml/2006/main">
            <a:pPr>
              <a:defRPr sz="2400" b="0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3A3C"/>
                </a:solidFill>
                <a:latin typeface="Arial"/>
                <a:ea typeface="Arial"/>
                <a:cs typeface="Arial"/>
              </a:rPr>
              <a:t>настроить пороги и добавить контакт помощника.</a:t>
            </a:r>
          </a:p>
        </p:txBody>
      </p:sp>
    </p:spTree>
    <p:extLst>
      <p:ext uri="{BB962C8B-B14F-4D97-AF65-F5344CB8AC3E}">
        <p14:creationId xmlns:p14="http://schemas.microsoft.com/office/powerpoint/2010/main" val="12534217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44B9C-A310-491D-B52E-80F5FBD1A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7063db6b24d74"/>
          <a:srcRect xmlns:a="http://schemas.openxmlformats.org/drawingml/2006/main" l="0" t="28906" r="0" b="289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AE6EA-AC74-41DA-B42C-84B93A5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2B30">
                  <a:alpha val="88000"/>
                </a:srgbClr>
              </a:gs>
              <a:gs pos="100000">
                <a:srgbClr val="082B30">
                  <a:alpha val="61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72765E6C-ABF6-4DFD-9187-D344B59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E7D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Понятный ответ.&#10;Проверяемый источник.">
            <a:extLst xmlns:a="http://schemas.openxmlformats.org/drawingml/2006/main">
              <a:ext uri="{FF2B5EF4-FFF2-40B4-BE49-F238E27FC236}">
                <a16:creationId xmlns:a16="http://schemas.microsoft.com/office/drawing/2014/main" id="{C3AA4BCC-0445-4406-B599-88A7E50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104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Понятный ответ.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Проверяемый источник.</a:t>
            </a:r>
          </a:p>
        </p:txBody>
      </p:sp>
      <p:sp>
        <p:nvSpPr>
          <p:cNvPr id="5" name="ADAL AI">
            <a:extLst xmlns:a="http://schemas.openxmlformats.org/drawingml/2006/main">
              <a:ext uri="{FF2B5EF4-FFF2-40B4-BE49-F238E27FC236}">
                <a16:creationId xmlns:a16="http://schemas.microsoft.com/office/drawing/2014/main" id="{429F8203-29E6-4AA5-887C-1A59F8AB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A6E7D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6E7D2"/>
                </a:solidFill>
                <a:latin typeface="Arial"/>
                <a:ea typeface="Arial"/>
                <a:cs typeface="Arial"/>
              </a:rPr>
              <a:t>ADAL AI</a:t>
            </a:r>
          </a:p>
        </p:txBody>
      </p:sp>
      <p:sp>
        <p:nvSpPr>
          <p:cNvPr id="6" name="Бахтияр и Эмиль&#10;Связь с помощником: +7 706 725 7286">
            <a:extLst xmlns:a="http://schemas.openxmlformats.org/drawingml/2006/main">
              <a:ext uri="{FF2B5EF4-FFF2-40B4-BE49-F238E27FC236}">
                <a16:creationId xmlns:a16="http://schemas.microsoft.com/office/drawing/2014/main" id="{BF363F3C-8FD3-4A9F-BF5F-D69AB2E3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Бахтияр и Эмиль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Связь с помощником: +7 706 725 7286</a:t>
            </a:r>
          </a:p>
        </p:txBody>
      </p:sp>
    </p:spTree>
    <p:extLst>
      <p:ext uri="{BB962C8B-B14F-4D97-AF65-F5344CB8AC3E}">
        <p14:creationId xmlns:p14="http://schemas.microsoft.com/office/powerpoint/2010/main" val="14271255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иложение: зависимости backend">
            <a:extLst xmlns:a="http://schemas.openxmlformats.org/drawingml/2006/main">
              <a:ext uri="{FF2B5EF4-FFF2-40B4-BE49-F238E27FC236}">
                <a16:creationId xmlns:a16="http://schemas.microsoft.com/office/drawing/2014/main" id="{B0A57547-4BEC-46E2-B066-51CD49A4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Приложение: зависимости backend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3410E943-ACCB-4F6F-89CA-DC8D872F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22FDD-2F9D-421C-9C30-378550151949}"/>
              </a:ext>
            </a:extLst>
          </p:cNvPr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55653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Прямые зависимости из pyproject.toml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fastapi, uvicorn, python-multipart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API и настройки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httpx, pydantic-settings, google-auth[requests]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Поиск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snowballstemmer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Документы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beautifulsoup4, lxml, pypdf, python-docx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Аудио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av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Разработка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pytest, pytest-asyncio, ruff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</a:tbl>
          </a:graphicData>
        </a:graphic>
      </p:graphicFrame>
      <p:sp>
        <p:nvSpPr>
          <p:cNvPr id="4" name="Pydantic импортируется кодом. sqlite3, asyncio и json входят в Python.">
            <a:extLst xmlns:a="http://schemas.openxmlformats.org/drawingml/2006/main">
              <a:ext uri="{FF2B5EF4-FFF2-40B4-BE49-F238E27FC236}">
                <a16:creationId xmlns:a16="http://schemas.microsoft.com/office/drawing/2014/main" id="{C781073C-A7B9-4A47-A0B6-D18C15D7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Pydantic импортируется кодом. sqlite3, asyncio и json входят в Python.</a:t>
            </a:r>
          </a:p>
        </p:txBody>
      </p:sp>
    </p:spTree>
    <p:extLst>
      <p:ext uri="{BB962C8B-B14F-4D97-AF65-F5344CB8AC3E}">
        <p14:creationId xmlns:p14="http://schemas.microsoft.com/office/powerpoint/2010/main" val="10354906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Приложение: зависимости frontend">
            <a:extLst xmlns:a="http://schemas.openxmlformats.org/drawingml/2006/main">
              <a:ext uri="{FF2B5EF4-FFF2-40B4-BE49-F238E27FC236}">
                <a16:creationId xmlns:a16="http://schemas.microsoft.com/office/drawing/2014/main" id="{47B8DE8C-C6BA-47C8-9FC6-2BE2BAF3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03A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3A3C"/>
                </a:solidFill>
                <a:latin typeface="Arial"/>
                <a:ea typeface="Arial"/>
                <a:cs typeface="Arial"/>
              </a:rPr>
              <a:t>Приложение: зависимости frontend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2EC9C7AD-DE2C-4B0F-8D71-7E064ED3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6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260AF-94B4-4DFE-8060-F573736A536D}"/>
              </a:ext>
            </a:extLst>
          </p:cNvPr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4219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703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Пакеты из package.json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T w="9525">
                      <a:solidFill>
                        <a:srgbClr val="CCD8D1"/>
                      </a:solidFill>
                    </a:lnT>
                    <a:lnB w="9525">
                      <a:solidFill>
                        <a:srgbClr val="CCD8D1"/>
                      </a:solidFill>
                    </a:lnB>
                    <a:solidFill>
                      <a:srgbClr val="087F7B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Runtime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react, react-dom, react-markdown, remark-gfm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Сборка и PWA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typescript, vite, @vitejs/plugin-react, vite-plugin-pwa,</a:t>
                      </a:r>
                    </a:p>
                    <a:p>
                      <a:r>
                        <a:rPr sz="172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@vite-pwa/assets-generator, workbox-build, workbox-window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кода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eslint, @eslint/js, typescript-eslint, globals,</a:t>
                      </a:r>
                    </a:p>
                    <a:p>
                      <a:r>
                        <a:rPr sz="172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eslint-plugin-react-hooks, eslint-plugin-react-refresh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Тесты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vitest, jsdom, @testing-library/dom, @testing-library/react,</a:t>
                      </a:r>
                    </a:p>
                    <a:p>
                      <a:r>
                        <a:rPr sz="172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@testing-library/jest-dom, @testing-library/user-event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E5EBE5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Типы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8D1"/>
                      </a:solidFill>
                    </a:lnL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3A3C"/>
                          </a:solidFill>
                          <a:latin typeface="Arial"/>
                          <a:ea typeface="Arial"/>
                          <a:cs typeface="Arial"/>
                        </a:rPr>
                        <a:t>@types/node, @types/react, @types/react-dom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8D1"/>
                      </a:solidFill>
                    </a:lnR>
                    <a:lnB w="9525">
                      <a:solidFill>
                        <a:srgbClr val="CCD8D1"/>
                      </a:solidFill>
                    </a:lnB>
                    <a:solidFill>
                      <a:srgbClr val="F3F2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123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2026-10-16T07:51:40.8470000Z</dcterms:created>
  <dcterms:modified xsi:type="dcterms:W3CDTF">2026-10-16T07:51:40.8470000Z</dcterms:modified>
</coreProperties>
</file>