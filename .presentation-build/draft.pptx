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ba286c3134149aa" /><Relationship Type="http://schemas.openxmlformats.org/officeDocument/2006/relationships/extended-properties" Target="/docProps/app.xml" Id="Rcad2d2398a0b467f" /><Relationship Type="http://schemas.openxmlformats.org/officeDocument/2006/relationships/officeDocument" Target="/ppt/presentation.xml" Id="R08bd23bc17c04f8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252cd04a02649be"/>
  </p:sldMasterIdLst>
  <p:notesMasterIdLst>
    <p:notesMasterId xmlns:r="http://schemas.openxmlformats.org/officeDocument/2006/relationships" r:id="R5ef7c67d2d1b4dba"/>
  </p:notesMasterIdLst>
  <p:sldIdLst>
    <p:sldId xmlns:r="http://schemas.openxmlformats.org/officeDocument/2006/relationships" id="256" r:id="Rb43bcc782fbc443c"/>
    <p:sldId xmlns:r="http://schemas.openxmlformats.org/officeDocument/2006/relationships" id="257" r:id="Rb0c274e4b7da443d"/>
    <p:sldId xmlns:r="http://schemas.openxmlformats.org/officeDocument/2006/relationships" id="258" r:id="R74b98a3f2cfc4cf8"/>
    <p:sldId xmlns:r="http://schemas.openxmlformats.org/officeDocument/2006/relationships" id="259" r:id="Reeb48c37c86749e6"/>
    <p:sldId xmlns:r="http://schemas.openxmlformats.org/officeDocument/2006/relationships" id="260" r:id="R37a2971b6da64d61"/>
    <p:sldId xmlns:r="http://schemas.openxmlformats.org/officeDocument/2006/relationships" id="261" r:id="Re7500903bd1d4ea5"/>
    <p:sldId xmlns:r="http://schemas.openxmlformats.org/officeDocument/2006/relationships" id="262" r:id="R379b077bf0b84c3b"/>
    <p:sldId xmlns:r="http://schemas.openxmlformats.org/officeDocument/2006/relationships" id="263" r:id="R94d5cf8f219c46d0"/>
    <p:sldId xmlns:r="http://schemas.openxmlformats.org/officeDocument/2006/relationships" id="264" r:id="Rb99a7f3559734298"/>
    <p:sldId xmlns:r="http://schemas.openxmlformats.org/officeDocument/2006/relationships" id="265" r:id="R985f3611f21f402d"/>
    <p:sldId xmlns:r="http://schemas.openxmlformats.org/officeDocument/2006/relationships" id="266" r:id="Reef196e55a244b6a"/>
    <p:sldId xmlns:r="http://schemas.openxmlformats.org/officeDocument/2006/relationships" id="267" r:id="R47f2a4af11124f0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96571b525174a1a" /><Relationship Type="http://schemas.openxmlformats.org/officeDocument/2006/relationships/slideMaster" Target="/ppt/slideMasters/slideMaster1.xml" Id="Rf252cd04a02649be" /><Relationship Type="http://schemas.openxmlformats.org/officeDocument/2006/relationships/notesMaster" Target="/ppt/notesMasters/notesMaster1.xml" Id="R5ef7c67d2d1b4dba" /><Relationship Type="http://schemas.openxmlformats.org/officeDocument/2006/relationships/presProps" Target="/ppt/presProps.xml" Id="R149deedf09ae440a" /><Relationship Type="http://schemas.openxmlformats.org/officeDocument/2006/relationships/tableStyles" Target="/ppt/tableStyles.xml" Id="R6299eac52d1c468a" /><Relationship Type="http://schemas.openxmlformats.org/officeDocument/2006/relationships/slide" Target="/ppt/slides/slide1.xml" Id="Rb43bcc782fbc443c" /><Relationship Type="http://schemas.openxmlformats.org/officeDocument/2006/relationships/slide" Target="/ppt/slides/slide2.xml" Id="Rb0c274e4b7da443d" /><Relationship Type="http://schemas.openxmlformats.org/officeDocument/2006/relationships/slide" Target="/ppt/slides/slide3.xml" Id="R74b98a3f2cfc4cf8" /><Relationship Type="http://schemas.openxmlformats.org/officeDocument/2006/relationships/slide" Target="/ppt/slides/slide4.xml" Id="Reeb48c37c86749e6" /><Relationship Type="http://schemas.openxmlformats.org/officeDocument/2006/relationships/slide" Target="/ppt/slides/slide5.xml" Id="R37a2971b6da64d61" /><Relationship Type="http://schemas.openxmlformats.org/officeDocument/2006/relationships/slide" Target="/ppt/slides/slide6.xml" Id="Re7500903bd1d4ea5" /><Relationship Type="http://schemas.openxmlformats.org/officeDocument/2006/relationships/slide" Target="/ppt/slides/slide7.xml" Id="R379b077bf0b84c3b" /><Relationship Type="http://schemas.openxmlformats.org/officeDocument/2006/relationships/slide" Target="/ppt/slides/slide8.xml" Id="R94d5cf8f219c46d0" /><Relationship Type="http://schemas.openxmlformats.org/officeDocument/2006/relationships/slide" Target="/ppt/slides/slide9.xml" Id="Rb99a7f3559734298" /><Relationship Type="http://schemas.openxmlformats.org/officeDocument/2006/relationships/slide" Target="/ppt/slides/slide10.xml" Id="R985f3611f21f402d" /><Relationship Type="http://schemas.openxmlformats.org/officeDocument/2006/relationships/slide" Target="/ppt/slides/slide11.xml" Id="Reef196e55a244b6a" /><Relationship Type="http://schemas.openxmlformats.org/officeDocument/2006/relationships/slide" Target="/ppt/slides/slide12.xml" Id="R47f2a4af11124f0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82e43a099cc4d1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28703bac4f74960" /><Relationship Type="http://schemas.openxmlformats.org/officeDocument/2006/relationships/notesMaster" Target="/ppt/notesMasters/notesMaster1.xml" Id="R278bb52f3a1942b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6b8a611a7574ad6" /><Relationship Type="http://schemas.openxmlformats.org/officeDocument/2006/relationships/notesMaster" Target="/ppt/notesMasters/notesMaster1.xml" Id="R1855c1dbb4f34ac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ad30f31a5134723" /><Relationship Type="http://schemas.openxmlformats.org/officeDocument/2006/relationships/notesMaster" Target="/ppt/notesMasters/notesMaster1.xml" Id="R0f9a2284a754426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ecd0b803e804291" /><Relationship Type="http://schemas.openxmlformats.org/officeDocument/2006/relationships/notesMaster" Target="/ppt/notesMasters/notesMaster1.xml" Id="R8ca4f49b491746a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2bfec8ade5c47a4" /><Relationship Type="http://schemas.openxmlformats.org/officeDocument/2006/relationships/notesMaster" Target="/ppt/notesMasters/notesMaster1.xml" Id="R028c8fe6bddf404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7d879a6f287438b" /><Relationship Type="http://schemas.openxmlformats.org/officeDocument/2006/relationships/notesMaster" Target="/ppt/notesMasters/notesMaster1.xml" Id="Rd072c5654cd2437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a0c45c9194b43e7" /><Relationship Type="http://schemas.openxmlformats.org/officeDocument/2006/relationships/notesMaster" Target="/ppt/notesMasters/notesMaster1.xml" Id="R20af63d60e244ec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69dd4d7c08d4cb1" /><Relationship Type="http://schemas.openxmlformats.org/officeDocument/2006/relationships/notesMaster" Target="/ppt/notesMasters/notesMaster1.xml" Id="R9f4246bc9a6c408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3a1b638196b4ee7" /><Relationship Type="http://schemas.openxmlformats.org/officeDocument/2006/relationships/notesMaster" Target="/ppt/notesMasters/notesMaster1.xml" Id="R0ae80dcc1cce419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b644f74efe84e04" /><Relationship Type="http://schemas.openxmlformats.org/officeDocument/2006/relationships/notesMaster" Target="/ppt/notesMasters/notesMaster1.xml" Id="R078ec34b29d44d2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49ad0e872c64864" /><Relationship Type="http://schemas.openxmlformats.org/officeDocument/2006/relationships/notesMaster" Target="/ppt/notesMasters/notesMaster1.xml" Id="Rc0e95db4f9774e6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510034e6c06426a" /><Relationship Type="http://schemas.openxmlformats.org/officeDocument/2006/relationships/notesMaster" Target="/ppt/notesMasters/notesMaster1.xml" Id="R79ed1e054355423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15 секунд. Мы представляем Adal AI, помощника для поиска и объяснения официальной информации Казахстана. Наша главная задача: связывать каждый ответ с проверяемыми источниками.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Положение конкурса, п. 1–4. Фото: Bekarys Khozhanazar, Unsplash, https://unsplash.com/photos/a-view-of-a-city-with-mountains-in-the-background-Is8ARHv0ODw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25 секунд. Официальная информация распределена между документами и сайтами. Adal AI принимает вопрос обычным языком и помогает найти объяснение с источниками. Здесь реальный интерфейс нашего веб-портала. Пользователь выбирает русский или казахский язык.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README.md; frontend/adal-ai/frontend/src/App.tsx; src/i18n/ru.ts; реальный скриншот http://127.0.0.1:8000/ от 16.10.2026.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25 секунд. Встроенный каталог содержит 37 официальных источников. Мы загружаем документы, проверяем текст и редакцию, затем включаем материал в поиск. Интернет используется для получения материалов из каталога. Во время ответа поиск идёт по подготовленной базе. На снятом локальном экране документы ещё находятся на проверке.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backend/app/catalog.py; app/collector.py; app/library.py; app/corpus.py; реальный скриншот раздела «База знаний», 16.10.2026. 37 записей каталога, а не 37 активных документов.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30 секунд. Сначала система обрабатывает вопрос: определяет язык, нормализует текст и выделяет значимые слова. Алгоритм BM25 ранжирует фрагменты по совпадениям. Есть обработка основы русских слов и небольшой словарь выражений на двух языках. Система исключает материалы с просроченной датой проверки и передаёт модели до пяти фрагментов.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backend/app/retrieval.py; app/config.py; app/corpus.py. Лимит контекста по умолчанию 30 000 символов. Казахского морфологического анализатора и векторного поиска в текущей реализации нет. Дата проверки не заменяет правовую экспертизу актуальности документа.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40 секунд. Генератор формирует ответ по документам. Затем код проверяет цитаты и числа. Google Check Grounding оценивает, подтверждены ли утверждения источниками. После этого отдельный вызов модели-критика проверяет смысл и условия. То есть в успешном цикле есть два вызова LLM и дополнительная проверка Google. При отклонении допускается одна новая генерация с полным повтором проверок. Если подтверждения нет, текст не показывается.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backend/app/service.py; app/providers.py; app/verification.py. Критик не получает баллы Google. Одна и та же модель может выполнять обе роли. Два вызова не гарантируют независимость ошибок. При сбое внешнего сервиса возвращается temporarily_unavailable.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25 секунд. Балльная система здесь служит допуском ответа. В коде порог 0,95 задан и для всего ответа, и для каждого утверждения. Даже высокий общий балл не позволяет пропустить неподтверждённую фразу. Это оценка проверяющего сервиса, её нельзя представлять как 95 процентов точности.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backend/app/config.py: grounding_support_threshold и grounding_claim_threshold; app/verification.py. citationThreshold=0.8 используется для подбора цитат и не является тем же порогом допуска.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25 секунд. Сильная сторона проекта: цепочка проверки перед показом ответа. Пользователь видит источники и может проверить важные сведения. При нехватке подтверждений бот отказывает. Русский и казахский интерфейсы уже реализованы. Историю можно удалить. Сейчас история нужна для отображения, а каждый новый вопрос ИИ обрабатывает отдельно.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frontend/adal-ai/frontend/src/i18n/kk.ts; app/web.py; app/service.py; README.md. Скриншот казахского интерфейса, 16.10.2026. Наличие механизма проверок не доказывает измеренную точность.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25 секунд. Следующий этап развития: опыт и звания пользователей. Мы предлагаем поощрять изучение документов и успешное прохождение мини-тестов. Звания показывают прогресс обучения. Они не делают человека юристом и не меняют пороги проверки ИИ. Это концепция, в текущем репозитории функция ещё не реализована.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Пожелание пользователя от 16.10.2026. Названия званий и действия для начисления опыта предложены для обсуждения. Числовые пороги, награды и антинакрутка требуют проектирования.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30 секунд. Попробовать Adal AI можно в WhatsApp по указанному номеру. Также есть веб-портал. Для демонстрации зададим вопрос о концепции «Слышащее государство», посмотрим ответ, источники и поведение при отсутствии подтверждения. Благодарим за внимание, готовы к вопросам. Основная часть слайдов занимает около 4 минут, с короткой демонстрацией до 5 минут.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Номер и возможность получить ответ в WhatsApp сообщены пользователем. WhatsApp в рамках подготовки презентации не тестировался. Адрес портала намеренно не указан по просьбе пользователя.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Резерв для вопросов. Генератор можно выбрать: Gemini или DeepSeek. Критик подключается отдельным запросом. Библиотека документов и корпус отделены от истории диалога. SQLite используется для истории, поиск документов работает по загруженному локальному корпусу. Код: https://github.com/AbulkasimovBakhtiyar2006/adal-ai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README.md; backend/app/main.py; app/library.py; app/storage.py; app/web.py; app/providers.py; frontend/adal-ai/frontend/package.json.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Резерв для вопросов. Нельзя описывать текущую реализацию как автоматический поиск по всему интернету при каждом вопросе. Сеть используется при подготовке официальной базы и для вызовов AI API. Если ответ отклонён проверками, возможна ровно одна повторная генерация. При недоступности внешней проверки система возвращает сообщение о временной недоступности.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backend/app/collector.py; app/catalog.py; app/service.py; app/config.py. По умолчанию общий лимит 100 секунд, один HTTP-запрос 25 секунд, максимум 4 активных запроса.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Резерв для вопросов. Состояние локальной копии на момент подготовки: 37 документов на проверке, активных фрагментов нет, ключи генератора не заданы. Поэтому успешный живой ответ этой копии не демонстрировался. Это не оценка отдельного WhatsApp-развёртывания, о котором сообщил пользователь. Для полноценного демо нужно завершить подключение API и проверку корпуса.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Реальный локальный интерфейс /admin, 16.10.2026; README.md. План пользовательских званий сформирован по запросу пользователя.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e5f73e56e9c47c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73239862754fe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d98b89500564da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4bf96bfda746c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c9ac8d5ebe42d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9b439842ff5457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7B97B1D-6B07-4EC0-BE6D-106A611E641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7012352-BC15-40B6-A9B6-117A308C88E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7240E99-9D86-43FD-A2E4-F209F39A199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638D1B0-E262-437F-9FF7-AE5EBF50D89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7651D97-5EF7-4340-A5BD-DFC3A0701AF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ADA3763-78F8-4754-BB1D-1DC16CB7DCA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6116BD1-1D91-406F-9217-67023DC7635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E521457-767A-40AA-AA40-F1B2E425D0C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C599217-1EA8-43D6-A532-C3D3E57E75A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3D7B7E8-E2DF-4A9B-9639-33A9C232069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7c17c8ec45d4fd6" /><Relationship Type="http://schemas.openxmlformats.org/officeDocument/2006/relationships/slideLayout" Target="/ppt/slideLayouts/slideLayout1.xml" Id="R04ba7844d05c4c6d" /><Relationship Type="http://schemas.openxmlformats.org/officeDocument/2006/relationships/slideLayout" Target="/ppt/slideLayouts/slideLayout2.xml" Id="R663851d6e85b4023" /><Relationship Type="http://schemas.openxmlformats.org/officeDocument/2006/relationships/slideLayout" Target="/ppt/slideLayouts/slideLayout3.xml" Id="Ra99073d955f74d51" /><Relationship Type="http://schemas.openxmlformats.org/officeDocument/2006/relationships/slideLayout" Target="/ppt/slideLayouts/slideLayout4.xml" Id="Rf1db51823dd4453d" /><Relationship Type="http://schemas.openxmlformats.org/officeDocument/2006/relationships/slideLayout" Target="/ppt/slideLayouts/slideLayout5.xml" Id="Ree56bd286b774676" /><Relationship Type="http://schemas.openxmlformats.org/officeDocument/2006/relationships/slideLayout" Target="/ppt/slideLayouts/slideLayout6.xml" Id="R446fd7862b2f4e1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4ba7844d05c4c6d"/>
    <p:sldLayoutId xmlns:r="http://schemas.openxmlformats.org/officeDocument/2006/relationships" id="2147483650" r:id="R663851d6e85b4023"/>
    <p:sldLayoutId xmlns:r="http://schemas.openxmlformats.org/officeDocument/2006/relationships" id="2147483651" r:id="Ra99073d955f74d51"/>
    <p:sldLayoutId xmlns:r="http://schemas.openxmlformats.org/officeDocument/2006/relationships" id="2147483652" r:id="Rf1db51823dd4453d"/>
    <p:sldLayoutId xmlns:r="http://schemas.openxmlformats.org/officeDocument/2006/relationships" id="2147483653" r:id="Ree56bd286b774676"/>
    <p:sldLayoutId xmlns:r="http://schemas.openxmlformats.org/officeDocument/2006/relationships" id="2147483654" r:id="R446fd7862b2f4e1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7b014c9bc574688" /><Relationship Type="http://schemas.openxmlformats.org/officeDocument/2006/relationships/image" Target="/ppt/media/image.jpeg" Id="R4332d9169b974b8b" /><Relationship Type="http://schemas.openxmlformats.org/officeDocument/2006/relationships/notesSlide" Target="/ppt/notesSlides/notesSlide1.xml" Id="R3a43b94f8b9444b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746b457138e48d2" /><Relationship Type="http://schemas.openxmlformats.org/officeDocument/2006/relationships/image" Target="/ppt/media/image2.jpeg" Id="Rfdac9848f60c41da" /><Relationship Type="http://schemas.openxmlformats.org/officeDocument/2006/relationships/notesSlide" Target="/ppt/notesSlides/notesSlide2.xml" Id="R8c80ad543f6a4bb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1d5d95203ed49f7" /><Relationship Type="http://schemas.openxmlformats.org/officeDocument/2006/relationships/image" Target="/ppt/media/image3.jpeg" Id="R060ba8b43c064633" /><Relationship Type="http://schemas.openxmlformats.org/officeDocument/2006/relationships/notesSlide" Target="/ppt/notesSlides/notesSlide3.xml" Id="R8a73ace694c248f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b568dca174347a7" /><Relationship Type="http://schemas.openxmlformats.org/officeDocument/2006/relationships/notesSlide" Target="/ppt/notesSlides/notesSlide4.xml" Id="R992aebefa4514f7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d9ea814e7764304" /><Relationship Type="http://schemas.openxmlformats.org/officeDocument/2006/relationships/notesSlide" Target="/ppt/notesSlides/notesSlide5.xml" Id="R07541e15201345d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b408e0128c047ce" /><Relationship Type="http://schemas.openxmlformats.org/officeDocument/2006/relationships/notesSlide" Target="/ppt/notesSlides/notesSlide6.xml" Id="R14e999db57cb4b5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b9ae031c03d4c4b" /><Relationship Type="http://schemas.openxmlformats.org/officeDocument/2006/relationships/image" Target="/ppt/media/image4.jpeg" Id="R7f40235d28b840ab" /><Relationship Type="http://schemas.openxmlformats.org/officeDocument/2006/relationships/notesSlide" Target="/ppt/notesSlides/notesSlide7.xml" Id="R147f485e7fe2488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59eaa937f43484d" /><Relationship Type="http://schemas.openxmlformats.org/officeDocument/2006/relationships/notesSlide" Target="/ppt/notesSlides/notesSlide8.xml" Id="Rc1d0d9de699a4c3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5eb47876a9d40ef" /><Relationship Type="http://schemas.openxmlformats.org/officeDocument/2006/relationships/notesSlide" Target="/ppt/notesSlides/notesSlide9.xml" Id="R81d872eda375493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3e587e2921f4e2f" /><Relationship Type="http://schemas.openxmlformats.org/officeDocument/2006/relationships/notesSlide" Target="/ppt/notesSlides/notesSlide10.xml" Id="R5bb24d70d7b1465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8598a3a37c145da" /><Relationship Type="http://schemas.openxmlformats.org/officeDocument/2006/relationships/notesSlide" Target="/ppt/notesSlides/notesSlide11.xml" Id="R542d366d730846f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91a14e4d7494ef1" /><Relationship Type="http://schemas.openxmlformats.org/officeDocument/2006/relationships/notesSlide" Target="/ppt/notesSlides/notesSlide12.xml" Id="Ra9b4be4f49044d8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F55F1B-6759-4F53-9441-2465E6A83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450" b="1">
                <a:solidFill>
                  <a:srgbClr val="173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2" name="01">
            <a:extLst xmlns:a="http://schemas.openxmlformats.org/drawingml/2006/main">
              <a:ext uri="{FF2B5EF4-FFF2-40B4-BE49-F238E27FC236}">
                <a16:creationId xmlns:a16="http://schemas.microsoft.com/office/drawing/2014/main" id="{644BE949-82D5-469E-842A-6343252F8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5317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5D706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D706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D7069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104436-505E-4AF5-BDFE-E72A78DC77E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32d9169b974b8b"/>
          <a:srcRect xmlns:a="http://schemas.openxmlformats.org/drawingml/2006/main" l="0" t="6731" r="0" b="673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48400" y="0"/>
            <a:ext cx="5943600" cy="6858000"/>
          </a:xfrm>
          <a:prstGeom xmlns:a="http://schemas.openxmlformats.org/drawingml/2006/main" prst="rect">
            <a:avLst/>
          </a:prstGeom>
        </p:spPr>
      </p:pic>
      <p:sp>
        <p:nvSpPr>
          <p:cNvPr id="4" name="ADAL AI">
            <a:extLst xmlns:a="http://schemas.openxmlformats.org/drawingml/2006/main">
              <a:ext uri="{FF2B5EF4-FFF2-40B4-BE49-F238E27FC236}">
                <a16:creationId xmlns:a16="http://schemas.microsoft.com/office/drawing/2014/main" id="{B8B1DDEF-80F1-4359-9D47-AA7706832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5334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5850" b="1">
                <a:solidFill>
                  <a:srgbClr val="173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5850" b="1">
                <a:solidFill>
                  <a:srgbClr val="173B35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173B35"/>
                </a:solidFill>
                <a:latin typeface="Arial"/>
                <a:ea typeface="Arial"/>
                <a:cs typeface="Arial"/>
              </a:rPr>
              <a:t>ADAL AI</a:t>
            </a:r>
          </a:p>
        </p:txBody>
      </p:sp>
      <p:sp>
        <p:nvSpPr>
          <p:cNvPr id="5" name="ИИ-навигатор&#10;по официальным&#10;документам К">
            <a:extLst xmlns:a="http://schemas.openxmlformats.org/drawingml/2006/main">
              <a:ext uri="{FF2B5EF4-FFF2-40B4-BE49-F238E27FC236}">
                <a16:creationId xmlns:a16="http://schemas.microsoft.com/office/drawing/2014/main" id="{5039C22E-541D-4D01-8B21-571DCAA45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0"/>
            <a:ext cx="5238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850" b="0">
                <a:solidFill>
                  <a:srgbClr val="173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850" b="0">
                <a:solidFill>
                  <a:srgbClr val="173B35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173B35"/>
                </a:solidFill>
                <a:latin typeface="Arial"/>
                <a:ea typeface="Arial"/>
                <a:cs typeface="Arial"/>
              </a:rPr>
              <a:t>ИИ-навигатор</a:t>
            </a:r>
          </a:p>
          <a:p xmlns:a="http://schemas.openxmlformats.org/drawingml/2006/main">
            <a:pPr>
              <a:defRPr sz="2850" b="0">
                <a:solidFill>
                  <a:srgbClr val="173B35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173B35"/>
                </a:solidFill>
                <a:latin typeface="Arial"/>
                <a:ea typeface="Arial"/>
                <a:cs typeface="Arial"/>
              </a:rPr>
              <a:t>по официальным</a:t>
            </a:r>
          </a:p>
          <a:p xmlns:a="http://schemas.openxmlformats.org/drawingml/2006/main">
            <a:pPr>
              <a:defRPr sz="2850" b="0">
                <a:solidFill>
                  <a:srgbClr val="173B35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173B35"/>
                </a:solidFill>
                <a:latin typeface="Arial"/>
                <a:ea typeface="Arial"/>
                <a:cs typeface="Arial"/>
              </a:rPr>
              <a:t>документам Казахстана</a:t>
            </a:r>
          </a:p>
        </p:txBody>
      </p:sp>
      <p:sp>
        <p:nvSpPr>
          <p:cNvPr id="6" name="Бахтияр и Эмиль">
            <a:extLst xmlns:a="http://schemas.openxmlformats.org/drawingml/2006/main">
              <a:ext uri="{FF2B5EF4-FFF2-40B4-BE49-F238E27FC236}">
                <a16:creationId xmlns:a16="http://schemas.microsoft.com/office/drawing/2014/main" id="{B6789F82-25F7-4644-8B0B-F4E97A19A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86375"/>
            <a:ext cx="514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1">
                <a:solidFill>
                  <a:srgbClr val="21725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1725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1725B"/>
                </a:solidFill>
                <a:latin typeface="Arial"/>
                <a:ea typeface="Arial"/>
                <a:cs typeface="Arial"/>
              </a:rPr>
              <a:t>Бахтияр и Эмиль</a:t>
            </a:r>
          </a:p>
        </p:txBody>
      </p:sp>
      <p:sp>
        <p:nvSpPr>
          <p:cNvPr id="7" name="Конкурс «Адал қоғам»&#10;Алматы, 16 октября ">
            <a:extLst xmlns:a="http://schemas.openxmlformats.org/drawingml/2006/main">
              <a:ext uri="{FF2B5EF4-FFF2-40B4-BE49-F238E27FC236}">
                <a16:creationId xmlns:a16="http://schemas.microsoft.com/office/drawing/2014/main" id="{1E9EFA9E-7DA2-48B0-BE6E-03E6117B1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10250"/>
            <a:ext cx="5143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0">
                <a:solidFill>
                  <a:srgbClr val="5D706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D706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D7069"/>
                </a:solidFill>
                <a:latin typeface="Arial"/>
                <a:ea typeface="Arial"/>
                <a:cs typeface="Arial"/>
              </a:rPr>
              <a:t>Конкурс «Адал қоғам»</a:t>
            </a:r>
          </a:p>
          <a:p xmlns:a="http://schemas.openxmlformats.org/drawingml/2006/main">
            <a:pPr>
              <a:defRPr sz="1650" b="0">
                <a:solidFill>
                  <a:srgbClr val="5D706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D7069"/>
                </a:solidFill>
                <a:latin typeface="Arial"/>
                <a:ea typeface="Arial"/>
                <a:cs typeface="Arial"/>
              </a:rPr>
              <a:t>Алматы, 16 октября 2026</a:t>
            </a:r>
          </a:p>
        </p:txBody>
      </p:sp>
    </p:spTree>
    <p:extLst>
      <p:ext uri="{BB962C8B-B14F-4D97-AF65-F5344CB8AC3E}">
        <p14:creationId xmlns:p14="http://schemas.microsoft.com/office/powerpoint/2010/main" val="118169285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Официальная информация понятным языком">
            <a:extLst xmlns:a="http://schemas.openxmlformats.org/drawingml/2006/main">
              <a:ext uri="{FF2B5EF4-FFF2-40B4-BE49-F238E27FC236}">
                <a16:creationId xmlns:a16="http://schemas.microsoft.com/office/drawing/2014/main" id="{50C0C297-73C8-4CFA-936F-FA21079DE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450" b="1">
                <a:solidFill>
                  <a:srgbClr val="173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73B35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73B35"/>
                </a:solidFill>
                <a:latin typeface="Arial"/>
                <a:ea typeface="Arial"/>
                <a:cs typeface="Arial"/>
              </a:rPr>
              <a:t>Официальная информация понятным языком</a:t>
            </a:r>
          </a:p>
        </p:txBody>
      </p:sp>
      <p:sp>
        <p:nvSpPr>
          <p:cNvPr id="2" name="02">
            <a:extLst xmlns:a="http://schemas.openxmlformats.org/drawingml/2006/main">
              <a:ext uri="{FF2B5EF4-FFF2-40B4-BE49-F238E27FC236}">
                <a16:creationId xmlns:a16="http://schemas.microsoft.com/office/drawing/2014/main" id="{FB333689-188A-4C85-91B1-9E0ECB555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5317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5D706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D706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D706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Вопрос своими словами">
            <a:extLst xmlns:a="http://schemas.openxmlformats.org/drawingml/2006/main">
              <a:ext uri="{FF2B5EF4-FFF2-40B4-BE49-F238E27FC236}">
                <a16:creationId xmlns:a16="http://schemas.microsoft.com/office/drawing/2014/main" id="{FC4F6568-0558-48D4-89E4-54221D467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3476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400" b="1">
                <a:solidFill>
                  <a:srgbClr val="21725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21725B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1725B"/>
                </a:solidFill>
                <a:latin typeface="Arial"/>
                <a:ea typeface="Arial"/>
                <a:cs typeface="Arial"/>
              </a:rPr>
              <a:t>Вопрос своими словами</a:t>
            </a:r>
          </a:p>
        </p:txBody>
      </p:sp>
      <p:sp>
        <p:nvSpPr>
          <p:cNvPr id="4" name="Пользователю нужно найти документ, понят">
            <a:extLst xmlns:a="http://schemas.openxmlformats.org/drawingml/2006/main">
              <a:ext uri="{FF2B5EF4-FFF2-40B4-BE49-F238E27FC236}">
                <a16:creationId xmlns:a16="http://schemas.microsoft.com/office/drawing/2014/main" id="{3629809E-8114-4A58-BFDC-C33A39530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3333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0">
                <a:solidFill>
                  <a:srgbClr val="173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3B3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3B35"/>
                </a:solidFill>
                <a:latin typeface="Arial"/>
                <a:ea typeface="Arial"/>
                <a:cs typeface="Arial"/>
              </a:rPr>
              <a:t>Пользователю нужно найти документ, понять формулировки и проверить источник.</a:t>
            </a:r>
          </a:p>
        </p:txBody>
      </p:sp>
      <p:sp>
        <p:nvSpPr>
          <p:cNvPr id="5" name="Русский и казахский&#10;Веб-портал">
            <a:extLst xmlns:a="http://schemas.openxmlformats.org/drawingml/2006/main">
              <a:ext uri="{FF2B5EF4-FFF2-40B4-BE49-F238E27FC236}">
                <a16:creationId xmlns:a16="http://schemas.microsoft.com/office/drawing/2014/main" id="{B2FF0E62-9ADC-42C6-839C-D8D69C8D6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33813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5D706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5D706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D7069"/>
                </a:solidFill>
                <a:latin typeface="Arial"/>
                <a:ea typeface="Arial"/>
                <a:cs typeface="Arial"/>
              </a:rPr>
              <a:t>Русский и казахский</a:t>
            </a:r>
          </a:p>
          <a:p xmlns:a="http://schemas.openxmlformats.org/drawingml/2006/main">
            <a:pPr>
              <a:defRPr sz="2025" b="0">
                <a:solidFill>
                  <a:srgbClr val="5D706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D7069"/>
                </a:solidFill>
                <a:latin typeface="Arial"/>
                <a:ea typeface="Arial"/>
                <a:cs typeface="Arial"/>
              </a:rPr>
              <a:t>Веб-портал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E5ADAE-A447-49C2-BE22-1D621C929EF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ac9848f60c41da"/>
          <a:stretch xmlns:a="http://schemas.openxmlformats.org/drawingml/2006/main"/>
        </p:blipFill>
        <p:spPr>
          <a:xfrm xmlns:a="http://schemas.openxmlformats.org/drawingml/2006/main">
            <a:off x="4413895" y="1685925"/>
            <a:ext cx="6936085" cy="46005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375543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База знаний под контролем команды">
            <a:extLst xmlns:a="http://schemas.openxmlformats.org/drawingml/2006/main">
              <a:ext uri="{FF2B5EF4-FFF2-40B4-BE49-F238E27FC236}">
                <a16:creationId xmlns:a16="http://schemas.microsoft.com/office/drawing/2014/main" id="{E600943C-ED50-4316-8D84-2D1E4CED1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450" b="1">
                <a:solidFill>
                  <a:srgbClr val="173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73B35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73B35"/>
                </a:solidFill>
                <a:latin typeface="Arial"/>
                <a:ea typeface="Arial"/>
                <a:cs typeface="Arial"/>
              </a:rPr>
              <a:t>База знаний под контролем команды</a:t>
            </a:r>
          </a:p>
        </p:txBody>
      </p:sp>
      <p:sp>
        <p:nvSpPr>
          <p:cNvPr id="2" name="Загрузка официальных материалов и провер">
            <a:extLst xmlns:a="http://schemas.openxmlformats.org/drawingml/2006/main">
              <a:ext uri="{FF2B5EF4-FFF2-40B4-BE49-F238E27FC236}">
                <a16:creationId xmlns:a16="http://schemas.microsoft.com/office/drawing/2014/main" id="{7D9C2BE5-E111-4032-9145-DA54783CB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81125"/>
            <a:ext cx="10934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5D706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D706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D7069"/>
                </a:solidFill>
                <a:latin typeface="Arial"/>
                <a:ea typeface="Arial"/>
                <a:cs typeface="Arial"/>
              </a:rPr>
              <a:t>Загрузка официальных материалов и проверка перед включением в поиск</a:t>
            </a:r>
          </a:p>
        </p:txBody>
      </p:sp>
      <p:sp>
        <p:nvSpPr>
          <p:cNvPr id="3" name="03">
            <a:extLst xmlns:a="http://schemas.openxmlformats.org/drawingml/2006/main">
              <a:ext uri="{FF2B5EF4-FFF2-40B4-BE49-F238E27FC236}">
                <a16:creationId xmlns:a16="http://schemas.microsoft.com/office/drawing/2014/main" id="{B90E23B6-83A2-48F0-B7E0-1BE534175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5317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5D706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D706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D706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37">
            <a:extLst xmlns:a="http://schemas.openxmlformats.org/drawingml/2006/main">
              <a:ext uri="{FF2B5EF4-FFF2-40B4-BE49-F238E27FC236}">
                <a16:creationId xmlns:a16="http://schemas.microsoft.com/office/drawing/2014/main" id="{0C809194-DE93-466D-B4B3-BF6D460B8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05025"/>
            <a:ext cx="228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6600" b="1">
                <a:solidFill>
                  <a:srgbClr val="21725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6600" b="1">
                <a:solidFill>
                  <a:srgbClr val="21725B"/>
                </a:solidFill>
                <a:latin typeface="Arial"/>
                <a:ea typeface="Arial"/>
                <a:cs typeface="Arial"/>
              </a:defRPr>
            </a:pPr>
            <a:r>
              <a:rPr sz="6600" b="1">
                <a:solidFill>
                  <a:srgbClr val="21725B"/>
                </a:solidFill>
                <a:latin typeface="Arial"/>
                <a:ea typeface="Arial"/>
                <a:cs typeface="Arial"/>
              </a:rPr>
              <a:t>37</a:t>
            </a:r>
          </a:p>
        </p:txBody>
      </p:sp>
      <p:sp>
        <p:nvSpPr>
          <p:cNvPr id="5" name="источников&#10;в каталоге">
            <a:extLst xmlns:a="http://schemas.openxmlformats.org/drawingml/2006/main">
              <a:ext uri="{FF2B5EF4-FFF2-40B4-BE49-F238E27FC236}">
                <a16:creationId xmlns:a16="http://schemas.microsoft.com/office/drawing/2014/main" id="{5B07D741-0E1B-4667-8683-B48F99AF4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43250"/>
            <a:ext cx="285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1">
                <a:solidFill>
                  <a:srgbClr val="173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73B3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3B35"/>
                </a:solidFill>
                <a:latin typeface="Arial"/>
                <a:ea typeface="Arial"/>
                <a:cs typeface="Arial"/>
              </a:rPr>
              <a:t>источников</a:t>
            </a:r>
          </a:p>
          <a:p xmlns:a="http://schemas.openxmlformats.org/drawingml/2006/main">
            <a:pPr>
              <a:defRPr sz="2250" b="1">
                <a:solidFill>
                  <a:srgbClr val="173B3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3B35"/>
                </a:solidFill>
                <a:latin typeface="Arial"/>
                <a:ea typeface="Arial"/>
                <a:cs typeface="Arial"/>
              </a:rPr>
              <a:t>в каталоге</a:t>
            </a:r>
          </a:p>
        </p:txBody>
      </p:sp>
      <p:sp>
        <p:nvSpPr>
          <p:cNvPr id="6" name="«Әділет» и Акорда&#10;&#10;Документ хранит ссылк">
            <a:extLst xmlns:a="http://schemas.openxmlformats.org/drawingml/2006/main">
              <a:ext uri="{FF2B5EF4-FFF2-40B4-BE49-F238E27FC236}">
                <a16:creationId xmlns:a16="http://schemas.microsoft.com/office/drawing/2014/main" id="{BEBF2FC3-8928-40F0-B6CC-2E7588882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05300"/>
            <a:ext cx="32385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5D706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D706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D7069"/>
                </a:solidFill>
                <a:latin typeface="Arial"/>
                <a:ea typeface="Arial"/>
                <a:cs typeface="Arial"/>
              </a:rPr>
              <a:t>«Әділет» и Акорда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5D706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D7069"/>
                </a:solidFill>
                <a:latin typeface="Arial"/>
                <a:ea typeface="Arial"/>
                <a:cs typeface="Arial"/>
              </a:rPr>
              <a:t>Документ хранит ссылку,</a:t>
            </a:r>
          </a:p>
          <a:p xmlns:a="http://schemas.openxmlformats.org/drawingml/2006/main">
            <a:pPr>
              <a:defRPr sz="1875" b="0">
                <a:solidFill>
                  <a:srgbClr val="5D706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D7069"/>
                </a:solidFill>
                <a:latin typeface="Arial"/>
                <a:ea typeface="Arial"/>
                <a:cs typeface="Arial"/>
              </a:rPr>
              <a:t>редакцию и дату проверки.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338663-EAC7-4D9C-B6E7-EA6A43E91AD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0ba8b43c064633"/>
          <a:stretch xmlns:a="http://schemas.openxmlformats.org/drawingml/2006/main"/>
        </p:blipFill>
        <p:spPr>
          <a:xfrm xmlns:a="http://schemas.openxmlformats.org/drawingml/2006/main">
            <a:off x="4209521" y="2000250"/>
            <a:ext cx="7382933" cy="41529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732168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Как Adal AI находит нужный фрагмент">
            <a:extLst xmlns:a="http://schemas.openxmlformats.org/drawingml/2006/main">
              <a:ext uri="{FF2B5EF4-FFF2-40B4-BE49-F238E27FC236}">
                <a16:creationId xmlns:a16="http://schemas.microsoft.com/office/drawing/2014/main" id="{F4390AC3-DB44-4C8B-87F8-C676162CC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450" b="1">
                <a:solidFill>
                  <a:srgbClr val="173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73B35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73B35"/>
                </a:solidFill>
                <a:latin typeface="Arial"/>
                <a:ea typeface="Arial"/>
                <a:cs typeface="Arial"/>
              </a:rPr>
              <a:t>Как Adal AI находит нужный фрагмент</a:t>
            </a:r>
          </a:p>
        </p:txBody>
      </p:sp>
      <p:sp>
        <p:nvSpPr>
          <p:cNvPr id="2" name="Поиск по ключевым словам с ранжированием">
            <a:extLst xmlns:a="http://schemas.openxmlformats.org/drawingml/2006/main">
              <a:ext uri="{FF2B5EF4-FFF2-40B4-BE49-F238E27FC236}">
                <a16:creationId xmlns:a16="http://schemas.microsoft.com/office/drawing/2014/main" id="{A4DF6228-9F04-4BB2-BC93-088AEA8B2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81125"/>
            <a:ext cx="10934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5D706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D706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D7069"/>
                </a:solidFill>
                <a:latin typeface="Arial"/>
                <a:ea typeface="Arial"/>
                <a:cs typeface="Arial"/>
              </a:rPr>
              <a:t>Поиск по ключевым словам с ранжированием BM25</a:t>
            </a:r>
          </a:p>
        </p:txBody>
      </p:sp>
      <p:sp>
        <p:nvSpPr>
          <p:cNvPr id="3" name="04">
            <a:extLst xmlns:a="http://schemas.openxmlformats.org/drawingml/2006/main">
              <a:ext uri="{FF2B5EF4-FFF2-40B4-BE49-F238E27FC236}">
                <a16:creationId xmlns:a16="http://schemas.microsoft.com/office/drawing/2014/main" id="{C44A93C1-E424-4940-A6DB-9D91490E6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5317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5D706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D706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D7069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01">
            <a:extLst xmlns:a="http://schemas.openxmlformats.org/drawingml/2006/main">
              <a:ext uri="{FF2B5EF4-FFF2-40B4-BE49-F238E27FC236}">
                <a16:creationId xmlns:a16="http://schemas.microsoft.com/office/drawing/2014/main" id="{763AC75E-9BF8-469D-A021-E35E0A072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85975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700" b="1">
                <a:solidFill>
                  <a:srgbClr val="21725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21725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21725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Подготовка вопроса">
            <a:extLst xmlns:a="http://schemas.openxmlformats.org/drawingml/2006/main">
              <a:ext uri="{FF2B5EF4-FFF2-40B4-BE49-F238E27FC236}">
                <a16:creationId xmlns:a16="http://schemas.microsoft.com/office/drawing/2014/main" id="{A82773AD-F205-46F2-B71A-F7A33ADD3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85975"/>
            <a:ext cx="9848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75" b="1">
                <a:solidFill>
                  <a:srgbClr val="173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73B35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3B35"/>
                </a:solidFill>
                <a:latin typeface="Arial"/>
                <a:ea typeface="Arial"/>
                <a:cs typeface="Arial"/>
              </a:rPr>
              <a:t>Подготовка вопроса</a:t>
            </a:r>
          </a:p>
        </p:txBody>
      </p:sp>
      <p:sp>
        <p:nvSpPr>
          <p:cNvPr id="6" name="Определение языка, нормализация текста и">
            <a:extLst xmlns:a="http://schemas.openxmlformats.org/drawingml/2006/main">
              <a:ext uri="{FF2B5EF4-FFF2-40B4-BE49-F238E27FC236}">
                <a16:creationId xmlns:a16="http://schemas.microsoft.com/office/drawing/2014/main" id="{42D03488-9D2D-4F9F-8C42-8E4B9A2D5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24125"/>
            <a:ext cx="98488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 b="0">
                <a:solidFill>
                  <a:srgbClr val="5D706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D7069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D7069"/>
                </a:solidFill>
                <a:latin typeface="Arial"/>
                <a:ea typeface="Arial"/>
                <a:cs typeface="Arial"/>
              </a:rPr>
              <a:t>Определение языка, нормализация текста и удаление служебных слов</a:t>
            </a:r>
          </a:p>
        </p:txBody>
      </p:sp>
      <p:sp>
        <p:nvSpPr>
          <p:cNvPr id="7" name="02">
            <a:extLst xmlns:a="http://schemas.openxmlformats.org/drawingml/2006/main">
              <a:ext uri="{FF2B5EF4-FFF2-40B4-BE49-F238E27FC236}">
                <a16:creationId xmlns:a16="http://schemas.microsoft.com/office/drawing/2014/main" id="{EA4384BC-27DC-49C3-BE37-35901CCA5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43275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700" b="1">
                <a:solidFill>
                  <a:srgbClr val="21725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21725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21725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Поиск совпадений">
            <a:extLst xmlns:a="http://schemas.openxmlformats.org/drawingml/2006/main">
              <a:ext uri="{FF2B5EF4-FFF2-40B4-BE49-F238E27FC236}">
                <a16:creationId xmlns:a16="http://schemas.microsoft.com/office/drawing/2014/main" id="{F9AD2BEF-71AB-4F4B-A812-1A3889707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343275"/>
            <a:ext cx="9848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75" b="1">
                <a:solidFill>
                  <a:srgbClr val="173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73B35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3B35"/>
                </a:solidFill>
                <a:latin typeface="Arial"/>
                <a:ea typeface="Arial"/>
                <a:cs typeface="Arial"/>
              </a:rPr>
              <a:t>Поиск совпадений</a:t>
            </a:r>
          </a:p>
        </p:txBody>
      </p:sp>
      <p:sp>
        <p:nvSpPr>
          <p:cNvPr id="9" name="Основа русских слов и словарь русских и ">
            <a:extLst xmlns:a="http://schemas.openxmlformats.org/drawingml/2006/main">
              <a:ext uri="{FF2B5EF4-FFF2-40B4-BE49-F238E27FC236}">
                <a16:creationId xmlns:a16="http://schemas.microsoft.com/office/drawing/2014/main" id="{0D275902-978B-4731-99B5-AFBBB9DFB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781425"/>
            <a:ext cx="98488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 b="0">
                <a:solidFill>
                  <a:srgbClr val="5D706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D7069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D7069"/>
                </a:solidFill>
                <a:latin typeface="Arial"/>
                <a:ea typeface="Arial"/>
                <a:cs typeface="Arial"/>
              </a:rPr>
              <a:t>Основа русских слов и словарь русских и казахских выражений</a:t>
            </a:r>
          </a:p>
        </p:txBody>
      </p:sp>
      <p:sp>
        <p:nvSpPr>
          <p:cNvPr id="10" name="03">
            <a:extLst xmlns:a="http://schemas.openxmlformats.org/drawingml/2006/main">
              <a:ext uri="{FF2B5EF4-FFF2-40B4-BE49-F238E27FC236}">
                <a16:creationId xmlns:a16="http://schemas.microsoft.com/office/drawing/2014/main" id="{3EE2D884-1EFA-47A5-A2BB-84F72CD14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00575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700" b="1">
                <a:solidFill>
                  <a:srgbClr val="21725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21725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21725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Выбор контекста">
            <a:extLst xmlns:a="http://schemas.openxmlformats.org/drawingml/2006/main">
              <a:ext uri="{FF2B5EF4-FFF2-40B4-BE49-F238E27FC236}">
                <a16:creationId xmlns:a16="http://schemas.microsoft.com/office/drawing/2014/main" id="{7E1CA550-175B-4481-86E2-CB539A6B5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600575"/>
            <a:ext cx="9848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75" b="1">
                <a:solidFill>
                  <a:srgbClr val="173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73B35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3B35"/>
                </a:solidFill>
                <a:latin typeface="Arial"/>
                <a:ea typeface="Arial"/>
                <a:cs typeface="Arial"/>
              </a:rPr>
              <a:t>Выбор контекста</a:t>
            </a:r>
          </a:p>
        </p:txBody>
      </p:sp>
      <p:sp>
        <p:nvSpPr>
          <p:cNvPr id="12" name="Фильтр по языку и дате проверки, затем д">
            <a:extLst xmlns:a="http://schemas.openxmlformats.org/drawingml/2006/main">
              <a:ext uri="{FF2B5EF4-FFF2-40B4-BE49-F238E27FC236}">
                <a16:creationId xmlns:a16="http://schemas.microsoft.com/office/drawing/2014/main" id="{84B30A4E-48B7-44D0-AFBA-260519B97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038725"/>
            <a:ext cx="98488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 b="0">
                <a:solidFill>
                  <a:srgbClr val="5D706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D7069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D7069"/>
                </a:solidFill>
                <a:latin typeface="Arial"/>
                <a:ea typeface="Arial"/>
                <a:cs typeface="Arial"/>
              </a:rPr>
              <a:t>Фильтр по языку и дате проверки, затем до 5 фрагментов для модели</a:t>
            </a:r>
          </a:p>
        </p:txBody>
      </p:sp>
    </p:spTree>
    <p:extLst>
      <p:ext uri="{BB962C8B-B14F-4D97-AF65-F5344CB8AC3E}">
        <p14:creationId xmlns:p14="http://schemas.microsoft.com/office/powerpoint/2010/main" val="36041470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02D2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Ответ проходит несколько проверок">
            <a:extLst xmlns:a="http://schemas.openxmlformats.org/drawingml/2006/main">
              <a:ext uri="{FF2B5EF4-FFF2-40B4-BE49-F238E27FC236}">
                <a16:creationId xmlns:a16="http://schemas.microsoft.com/office/drawing/2014/main" id="{5D6596A1-4EA7-4FB8-9151-7E467CD3C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Ответ проходит несколько проверок</a:t>
            </a:r>
          </a:p>
        </p:txBody>
      </p:sp>
      <p:sp>
        <p:nvSpPr>
          <p:cNvPr id="2" name="Два вызова LLM в успешном цикле: генерат">
            <a:extLst xmlns:a="http://schemas.openxmlformats.org/drawingml/2006/main">
              <a:ext uri="{FF2B5EF4-FFF2-40B4-BE49-F238E27FC236}">
                <a16:creationId xmlns:a16="http://schemas.microsoft.com/office/drawing/2014/main" id="{8ED7173B-20C0-4901-981F-27BADB50D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81125"/>
            <a:ext cx="10934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BBD8B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BBD8BE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BBD8BE"/>
                </a:solidFill>
                <a:latin typeface="Arial"/>
                <a:ea typeface="Arial"/>
                <a:cs typeface="Arial"/>
              </a:rPr>
              <a:t>Два вызова LLM в успешном цикле: генератор и критик</a:t>
            </a:r>
          </a:p>
        </p:txBody>
      </p:sp>
      <p:sp>
        <p:nvSpPr>
          <p:cNvPr id="3" name="05">
            <a:extLst xmlns:a="http://schemas.openxmlformats.org/drawingml/2006/main">
              <a:ext uri="{FF2B5EF4-FFF2-40B4-BE49-F238E27FC236}">
                <a16:creationId xmlns:a16="http://schemas.microsoft.com/office/drawing/2014/main" id="{54B8EB66-A623-42A9-A21D-6BDE88AB1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5317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BBD8B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BBD8B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BD8BE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01">
            <a:extLst xmlns:a="http://schemas.openxmlformats.org/drawingml/2006/main">
              <a:ext uri="{FF2B5EF4-FFF2-40B4-BE49-F238E27FC236}">
                <a16:creationId xmlns:a16="http://schemas.microsoft.com/office/drawing/2014/main" id="{D07012B0-36BA-48D1-B52E-5436E1501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09800"/>
            <a:ext cx="304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925" b="1">
                <a:solidFill>
                  <a:srgbClr val="BBD8B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925" b="1">
                <a:solidFill>
                  <a:srgbClr val="BBD8BE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BBD8BE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Генератор">
            <a:extLst xmlns:a="http://schemas.openxmlformats.org/drawingml/2006/main">
              <a:ext uri="{FF2B5EF4-FFF2-40B4-BE49-F238E27FC236}">
                <a16:creationId xmlns:a16="http://schemas.microsoft.com/office/drawing/2014/main" id="{820F34BA-BEEC-49D3-A5C7-C90E4898B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5750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Генератор</a:t>
            </a:r>
          </a:p>
        </p:txBody>
      </p:sp>
      <p:sp>
        <p:nvSpPr>
          <p:cNvPr id="6" name="Создаёт ответ&#10;по найденным&#10;фрагментам">
            <a:extLst xmlns:a="http://schemas.openxmlformats.org/drawingml/2006/main">
              <a:ext uri="{FF2B5EF4-FFF2-40B4-BE49-F238E27FC236}">
                <a16:creationId xmlns:a16="http://schemas.microsoft.com/office/drawing/2014/main" id="{FA51E63B-782D-4453-A97C-403CB2780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38525"/>
            <a:ext cx="3333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BBD8B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BBD8BE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BBD8BE"/>
                </a:solidFill>
                <a:latin typeface="Arial"/>
                <a:ea typeface="Arial"/>
                <a:cs typeface="Arial"/>
              </a:rPr>
              <a:t>Создаёт ответ</a:t>
            </a:r>
          </a:p>
          <a:p xmlns:a="http://schemas.openxmlformats.org/drawingml/2006/main">
            <a:pPr>
              <a:defRPr sz="1875" b="0">
                <a:solidFill>
                  <a:srgbClr val="BBD8BE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BBD8BE"/>
                </a:solidFill>
                <a:latin typeface="Arial"/>
                <a:ea typeface="Arial"/>
                <a:cs typeface="Arial"/>
              </a:rPr>
              <a:t>по найденным</a:t>
            </a:r>
          </a:p>
          <a:p xmlns:a="http://schemas.openxmlformats.org/drawingml/2006/main">
            <a:pPr>
              <a:defRPr sz="1875" b="0">
                <a:solidFill>
                  <a:srgbClr val="BBD8BE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BBD8BE"/>
                </a:solidFill>
                <a:latin typeface="Arial"/>
                <a:ea typeface="Arial"/>
                <a:cs typeface="Arial"/>
              </a:rPr>
              <a:t>фрагментам</a:t>
            </a:r>
          </a:p>
        </p:txBody>
      </p:sp>
      <p:sp>
        <p:nvSpPr>
          <p:cNvPr id="7" name="02">
            <a:extLst xmlns:a="http://schemas.openxmlformats.org/drawingml/2006/main">
              <a:ext uri="{FF2B5EF4-FFF2-40B4-BE49-F238E27FC236}">
                <a16:creationId xmlns:a16="http://schemas.microsoft.com/office/drawing/2014/main" id="{D9D08D13-BDE7-4B60-9489-D574DF45A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209800"/>
            <a:ext cx="304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925" b="1">
                <a:solidFill>
                  <a:srgbClr val="BBD8B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925" b="1">
                <a:solidFill>
                  <a:srgbClr val="BBD8BE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BBD8BE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Проверка цитат">
            <a:extLst xmlns:a="http://schemas.openxmlformats.org/drawingml/2006/main">
              <a:ext uri="{FF2B5EF4-FFF2-40B4-BE49-F238E27FC236}">
                <a16:creationId xmlns:a16="http://schemas.microsoft.com/office/drawing/2014/main" id="{D76D3FA2-5174-4374-BE37-B43FEE60B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85750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Проверка цитат</a:t>
            </a:r>
          </a:p>
        </p:txBody>
      </p:sp>
      <p:sp>
        <p:nvSpPr>
          <p:cNvPr id="9" name="Код сверяет цитаты,&#10;числа и идентификато">
            <a:extLst xmlns:a="http://schemas.openxmlformats.org/drawingml/2006/main">
              <a:ext uri="{FF2B5EF4-FFF2-40B4-BE49-F238E27FC236}">
                <a16:creationId xmlns:a16="http://schemas.microsoft.com/office/drawing/2014/main" id="{C391FD66-1E80-4379-B816-659BFF762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438525"/>
            <a:ext cx="3333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BBD8B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BBD8BE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BBD8BE"/>
                </a:solidFill>
                <a:latin typeface="Arial"/>
                <a:ea typeface="Arial"/>
                <a:cs typeface="Arial"/>
              </a:rPr>
              <a:t>Код сверяет цитаты,</a:t>
            </a:r>
          </a:p>
          <a:p xmlns:a="http://schemas.openxmlformats.org/drawingml/2006/main">
            <a:pPr>
              <a:defRPr sz="1875" b="0">
                <a:solidFill>
                  <a:srgbClr val="BBD8BE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BBD8BE"/>
                </a:solidFill>
                <a:latin typeface="Arial"/>
                <a:ea typeface="Arial"/>
                <a:cs typeface="Arial"/>
              </a:rPr>
              <a:t>числа и идентификаторы</a:t>
            </a:r>
          </a:p>
          <a:p xmlns:a="http://schemas.openxmlformats.org/drawingml/2006/main">
            <a:pPr>
              <a:defRPr sz="1875" b="0">
                <a:solidFill>
                  <a:srgbClr val="BBD8BE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BBD8BE"/>
                </a:solidFill>
                <a:latin typeface="Arial"/>
                <a:ea typeface="Arial"/>
                <a:cs typeface="Arial"/>
              </a:rPr>
              <a:t>источников</a:t>
            </a:r>
          </a:p>
        </p:txBody>
      </p:sp>
      <p:sp>
        <p:nvSpPr>
          <p:cNvPr id="10" name="03">
            <a:extLst xmlns:a="http://schemas.openxmlformats.org/drawingml/2006/main">
              <a:ext uri="{FF2B5EF4-FFF2-40B4-BE49-F238E27FC236}">
                <a16:creationId xmlns:a16="http://schemas.microsoft.com/office/drawing/2014/main" id="{27BFCBF5-1EE3-474B-85C2-0B3FDD298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209800"/>
            <a:ext cx="304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925" b="1">
                <a:solidFill>
                  <a:srgbClr val="BBD8B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925" b="1">
                <a:solidFill>
                  <a:srgbClr val="BBD8BE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BBD8BE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Google Grounding">
            <a:extLst xmlns:a="http://schemas.openxmlformats.org/drawingml/2006/main">
              <a:ext uri="{FF2B5EF4-FFF2-40B4-BE49-F238E27FC236}">
                <a16:creationId xmlns:a16="http://schemas.microsoft.com/office/drawing/2014/main" id="{63D0E158-2503-4CF1-BBF5-5D87EC76A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85750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Google Grounding</a:t>
            </a:r>
          </a:p>
        </p:txBody>
      </p:sp>
      <p:sp>
        <p:nvSpPr>
          <p:cNvPr id="12" name="Проверяет опору&#10;каждого утверждения&#10;на д">
            <a:extLst xmlns:a="http://schemas.openxmlformats.org/drawingml/2006/main">
              <a:ext uri="{FF2B5EF4-FFF2-40B4-BE49-F238E27FC236}">
                <a16:creationId xmlns:a16="http://schemas.microsoft.com/office/drawing/2014/main" id="{F46FC8D0-4CB6-431D-A7F9-036FC4D2F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438525"/>
            <a:ext cx="3333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BBD8B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BBD8BE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BBD8BE"/>
                </a:solidFill>
                <a:latin typeface="Arial"/>
                <a:ea typeface="Arial"/>
                <a:cs typeface="Arial"/>
              </a:rPr>
              <a:t>Проверяет опору</a:t>
            </a:r>
          </a:p>
          <a:p xmlns:a="http://schemas.openxmlformats.org/drawingml/2006/main">
            <a:pPr>
              <a:defRPr sz="1875" b="0">
                <a:solidFill>
                  <a:srgbClr val="BBD8BE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BBD8BE"/>
                </a:solidFill>
                <a:latin typeface="Arial"/>
                <a:ea typeface="Arial"/>
                <a:cs typeface="Arial"/>
              </a:rPr>
              <a:t>каждого утверждения</a:t>
            </a:r>
          </a:p>
          <a:p xmlns:a="http://schemas.openxmlformats.org/drawingml/2006/main">
            <a:pPr>
              <a:defRPr sz="1875" b="0">
                <a:solidFill>
                  <a:srgbClr val="BBD8BE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BBD8BE"/>
                </a:solidFill>
                <a:latin typeface="Arial"/>
                <a:ea typeface="Arial"/>
                <a:cs typeface="Arial"/>
              </a:rPr>
              <a:t>на документы</a:t>
            </a:r>
          </a:p>
        </p:txBody>
      </p:sp>
      <p:sp>
        <p:nvSpPr>
          <p:cNvPr id="13" name="04  Модель-критик">
            <a:extLst xmlns:a="http://schemas.openxmlformats.org/drawingml/2006/main">
              <a:ext uri="{FF2B5EF4-FFF2-40B4-BE49-F238E27FC236}">
                <a16:creationId xmlns:a16="http://schemas.microsoft.com/office/drawing/2014/main" id="{E181E139-E93F-41A4-A613-34E4916F7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33950"/>
            <a:ext cx="466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04  Модель-критик</a:t>
            </a:r>
          </a:p>
        </p:txBody>
      </p:sp>
      <p:sp>
        <p:nvSpPr>
          <p:cNvPr id="14" name="Проверяет смысл, условия и соответствие ">
            <a:extLst xmlns:a="http://schemas.openxmlformats.org/drawingml/2006/main">
              <a:ext uri="{FF2B5EF4-FFF2-40B4-BE49-F238E27FC236}">
                <a16:creationId xmlns:a16="http://schemas.microsoft.com/office/drawing/2014/main" id="{4F77C27F-2C0D-418F-9562-6F23ED2C7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67350"/>
            <a:ext cx="7429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950" b="0">
                <a:solidFill>
                  <a:srgbClr val="BBD8B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BBD8BE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BD8BE"/>
                </a:solidFill>
                <a:latin typeface="Arial"/>
                <a:ea typeface="Arial"/>
                <a:cs typeface="Arial"/>
              </a:rPr>
              <a:t>Проверяет смысл, условия и соответствие вопросу</a:t>
            </a:r>
          </a:p>
        </p:txBody>
      </p:sp>
      <p:sp>
        <p:nvSpPr>
          <p:cNvPr id="15" name="Показ ответа&#10;после всех этапов">
            <a:extLst xmlns:a="http://schemas.openxmlformats.org/drawingml/2006/main">
              <a:ext uri="{FF2B5EF4-FFF2-40B4-BE49-F238E27FC236}">
                <a16:creationId xmlns:a16="http://schemas.microsoft.com/office/drawing/2014/main" id="{EC6DE117-ACA8-4E5A-A955-12D029CBF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5057775"/>
            <a:ext cx="2857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1">
                <a:solidFill>
                  <a:srgbClr val="D4B2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D4B27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4B273"/>
                </a:solidFill>
                <a:latin typeface="Arial"/>
                <a:ea typeface="Arial"/>
                <a:cs typeface="Arial"/>
              </a:rPr>
              <a:t>Показ ответа</a:t>
            </a:r>
          </a:p>
          <a:p xmlns:a="http://schemas.openxmlformats.org/drawingml/2006/main">
            <a:pPr>
              <a:defRPr sz="2025" b="1">
                <a:solidFill>
                  <a:srgbClr val="D4B27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4B273"/>
                </a:solidFill>
                <a:latin typeface="Arial"/>
                <a:ea typeface="Arial"/>
                <a:cs typeface="Arial"/>
              </a:rPr>
              <a:t>после всех этапов</a:t>
            </a:r>
          </a:p>
        </p:txBody>
      </p:sp>
    </p:spTree>
    <p:extLst>
      <p:ext uri="{BB962C8B-B14F-4D97-AF65-F5344CB8AC3E}">
        <p14:creationId xmlns:p14="http://schemas.microsoft.com/office/powerpoint/2010/main" val="23739055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Балльная проверка ответа ИИ">
            <a:extLst xmlns:a="http://schemas.openxmlformats.org/drawingml/2006/main">
              <a:ext uri="{FF2B5EF4-FFF2-40B4-BE49-F238E27FC236}">
                <a16:creationId xmlns:a16="http://schemas.microsoft.com/office/drawing/2014/main" id="{B16A00B7-FCB0-45D1-BA7A-5C924704E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450" b="1">
                <a:solidFill>
                  <a:srgbClr val="173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73B35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73B35"/>
                </a:solidFill>
                <a:latin typeface="Arial"/>
                <a:ea typeface="Arial"/>
                <a:cs typeface="Arial"/>
              </a:rPr>
              <a:t>Балльная проверка ответа ИИ</a:t>
            </a:r>
          </a:p>
        </p:txBody>
      </p:sp>
      <p:sp>
        <p:nvSpPr>
          <p:cNvPr id="2" name="Порог допуска по умолчанию в текущем код">
            <a:extLst xmlns:a="http://schemas.openxmlformats.org/drawingml/2006/main">
              <a:ext uri="{FF2B5EF4-FFF2-40B4-BE49-F238E27FC236}">
                <a16:creationId xmlns:a16="http://schemas.microsoft.com/office/drawing/2014/main" id="{7AB58E28-C9D7-4A2A-9B21-3529C604D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81125"/>
            <a:ext cx="10934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5D706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D706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D7069"/>
                </a:solidFill>
                <a:latin typeface="Arial"/>
                <a:ea typeface="Arial"/>
                <a:cs typeface="Arial"/>
              </a:rPr>
              <a:t>Порог допуска по умолчанию в текущем коде</a:t>
            </a:r>
          </a:p>
        </p:txBody>
      </p:sp>
      <p:sp>
        <p:nvSpPr>
          <p:cNvPr id="3" name="06">
            <a:extLst xmlns:a="http://schemas.openxmlformats.org/drawingml/2006/main">
              <a:ext uri="{FF2B5EF4-FFF2-40B4-BE49-F238E27FC236}">
                <a16:creationId xmlns:a16="http://schemas.microsoft.com/office/drawing/2014/main" id="{8397612B-9B7A-4124-A097-B2BFCB785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5317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5D706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D706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D7069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0,95">
            <a:extLst xmlns:a="http://schemas.openxmlformats.org/drawingml/2006/main">
              <a:ext uri="{FF2B5EF4-FFF2-40B4-BE49-F238E27FC236}">
                <a16:creationId xmlns:a16="http://schemas.microsoft.com/office/drawing/2014/main" id="{1EC4ED8F-99FE-490C-9744-16D21364F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4953000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8100" b="1">
                <a:solidFill>
                  <a:srgbClr val="21725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8100" b="1">
                <a:solidFill>
                  <a:srgbClr val="21725B"/>
                </a:solidFill>
                <a:latin typeface="Arial"/>
                <a:ea typeface="Arial"/>
                <a:cs typeface="Arial"/>
              </a:defRPr>
            </a:pPr>
            <a:r>
              <a:rPr sz="8100" b="1">
                <a:solidFill>
                  <a:srgbClr val="21725B"/>
                </a:solidFill>
                <a:latin typeface="Arial"/>
                <a:ea typeface="Arial"/>
                <a:cs typeface="Arial"/>
              </a:rPr>
              <a:t>0,95</a:t>
            </a:r>
          </a:p>
        </p:txBody>
      </p:sp>
      <p:sp>
        <p:nvSpPr>
          <p:cNvPr id="5" name="общая оценка подтверждённости">
            <a:extLst xmlns:a="http://schemas.openxmlformats.org/drawingml/2006/main">
              <a:ext uri="{FF2B5EF4-FFF2-40B4-BE49-F238E27FC236}">
                <a16:creationId xmlns:a16="http://schemas.microsoft.com/office/drawing/2014/main" id="{8910D12C-01F5-438D-B2C4-2B5DA20E0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38550"/>
            <a:ext cx="50006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325" b="1">
                <a:solidFill>
                  <a:srgbClr val="173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173B35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3B35"/>
                </a:solidFill>
                <a:latin typeface="Arial"/>
                <a:ea typeface="Arial"/>
                <a:cs typeface="Arial"/>
              </a:rPr>
              <a:t>общая оценка подтверждённости</a:t>
            </a:r>
          </a:p>
        </p:txBody>
      </p:sp>
      <p:sp>
        <p:nvSpPr>
          <p:cNvPr id="6" name="0,95">
            <a:extLst xmlns:a="http://schemas.openxmlformats.org/drawingml/2006/main">
              <a:ext uri="{FF2B5EF4-FFF2-40B4-BE49-F238E27FC236}">
                <a16:creationId xmlns:a16="http://schemas.microsoft.com/office/drawing/2014/main" id="{6F74B3C6-5C3F-4DE3-AB8D-622C774D4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190750"/>
            <a:ext cx="4953000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8100" b="1">
                <a:solidFill>
                  <a:srgbClr val="21725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8100" b="1">
                <a:solidFill>
                  <a:srgbClr val="21725B"/>
                </a:solidFill>
                <a:latin typeface="Arial"/>
                <a:ea typeface="Arial"/>
                <a:cs typeface="Arial"/>
              </a:defRPr>
            </a:pPr>
            <a:r>
              <a:rPr sz="8100" b="1">
                <a:solidFill>
                  <a:srgbClr val="21725B"/>
                </a:solidFill>
                <a:latin typeface="Arial"/>
                <a:ea typeface="Arial"/>
                <a:cs typeface="Arial"/>
              </a:rPr>
              <a:t>0,95</a:t>
            </a:r>
          </a:p>
        </p:txBody>
      </p:sp>
      <p:sp>
        <p:nvSpPr>
          <p:cNvPr id="7" name="оценка каждого утверждения">
            <a:extLst xmlns:a="http://schemas.openxmlformats.org/drawingml/2006/main">
              <a:ext uri="{FF2B5EF4-FFF2-40B4-BE49-F238E27FC236}">
                <a16:creationId xmlns:a16="http://schemas.microsoft.com/office/drawing/2014/main" id="{D18C236F-76F8-4ABA-BB6E-420CB7202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638550"/>
            <a:ext cx="4857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325" b="1">
                <a:solidFill>
                  <a:srgbClr val="173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173B35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3B35"/>
                </a:solidFill>
                <a:latin typeface="Arial"/>
                <a:ea typeface="Arial"/>
                <a:cs typeface="Arial"/>
              </a:rPr>
              <a:t>оценка каждого утверждения</a:t>
            </a:r>
          </a:p>
        </p:txBody>
      </p:sp>
      <p:sp>
        <p:nvSpPr>
          <p:cNvPr id="8" name="Высокий общий балл не компенсирует непод">
            <a:extLst xmlns:a="http://schemas.openxmlformats.org/drawingml/2006/main">
              <a:ext uri="{FF2B5EF4-FFF2-40B4-BE49-F238E27FC236}">
                <a16:creationId xmlns:a16="http://schemas.microsoft.com/office/drawing/2014/main" id="{59800060-25CA-40B4-957E-5859AF960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5300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0">
                <a:solidFill>
                  <a:srgbClr val="173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73B35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B35"/>
                </a:solidFill>
                <a:latin typeface="Arial"/>
                <a:ea typeface="Arial"/>
                <a:cs typeface="Arial"/>
              </a:rPr>
              <a:t>Высокий общий балл не компенсирует неподтверждённую фразу.</a:t>
            </a:r>
          </a:p>
        </p:txBody>
      </p:sp>
      <p:sp>
        <p:nvSpPr>
          <p:cNvPr id="9" name="Оценка сервиса не равна вероятности прав">
            <a:extLst xmlns:a="http://schemas.openxmlformats.org/drawingml/2006/main">
              <a:ext uri="{FF2B5EF4-FFF2-40B4-BE49-F238E27FC236}">
                <a16:creationId xmlns:a16="http://schemas.microsoft.com/office/drawing/2014/main" id="{16FB2337-A062-470E-B2E8-4DFEF5FB4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53100"/>
            <a:ext cx="1057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0">
                <a:solidFill>
                  <a:srgbClr val="5D706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D706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D7069"/>
                </a:solidFill>
                <a:latin typeface="Arial"/>
                <a:ea typeface="Arial"/>
                <a:cs typeface="Arial"/>
              </a:rPr>
              <a:t>Оценка сервиса не равна вероятности правильного ответа. Пороги требуют настройки на тестовых вопросах.</a:t>
            </a:r>
          </a:p>
        </p:txBody>
      </p:sp>
    </p:spTree>
    <p:extLst>
      <p:ext uri="{BB962C8B-B14F-4D97-AF65-F5344CB8AC3E}">
        <p14:creationId xmlns:p14="http://schemas.microsoft.com/office/powerpoint/2010/main" val="195724028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Сильные стороны Adal AI">
            <a:extLst xmlns:a="http://schemas.openxmlformats.org/drawingml/2006/main">
              <a:ext uri="{FF2B5EF4-FFF2-40B4-BE49-F238E27FC236}">
                <a16:creationId xmlns:a16="http://schemas.microsoft.com/office/drawing/2014/main" id="{956EB840-EE9D-4B61-A9E5-59A38F199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450" b="1">
                <a:solidFill>
                  <a:srgbClr val="173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73B35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73B35"/>
                </a:solidFill>
                <a:latin typeface="Arial"/>
                <a:ea typeface="Arial"/>
                <a:cs typeface="Arial"/>
              </a:rPr>
              <a:t>Сильные стороны Adal AI</a:t>
            </a:r>
          </a:p>
        </p:txBody>
      </p:sp>
      <p:sp>
        <p:nvSpPr>
          <p:cNvPr id="2" name="07">
            <a:extLst xmlns:a="http://schemas.openxmlformats.org/drawingml/2006/main">
              <a:ext uri="{FF2B5EF4-FFF2-40B4-BE49-F238E27FC236}">
                <a16:creationId xmlns:a16="http://schemas.microsoft.com/office/drawing/2014/main" id="{98594062-2D9F-4B41-91B3-ED278F66B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5317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5D706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D706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D7069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" name="Проверяемые объяснения">
            <a:extLst xmlns:a="http://schemas.openxmlformats.org/drawingml/2006/main">
              <a:ext uri="{FF2B5EF4-FFF2-40B4-BE49-F238E27FC236}">
                <a16:creationId xmlns:a16="http://schemas.microsoft.com/office/drawing/2014/main" id="{2AC7B71D-A670-4CC0-8705-2A69EDFBC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933575"/>
            <a:ext cx="4000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1">
                <a:solidFill>
                  <a:srgbClr val="21725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21725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1725B"/>
                </a:solidFill>
                <a:latin typeface="Arial"/>
                <a:ea typeface="Arial"/>
                <a:cs typeface="Arial"/>
              </a:rPr>
              <a:t>Проверяемые объяснения</a:t>
            </a:r>
          </a:p>
        </p:txBody>
      </p:sp>
      <p:sp>
        <p:nvSpPr>
          <p:cNvPr id="4" name="Связь утверждений с цитатами&#10;и официальн">
            <a:extLst xmlns:a="http://schemas.openxmlformats.org/drawingml/2006/main">
              <a:ext uri="{FF2B5EF4-FFF2-40B4-BE49-F238E27FC236}">
                <a16:creationId xmlns:a16="http://schemas.microsoft.com/office/drawing/2014/main" id="{CA7BBA1E-E54E-410C-8595-226E9C3B4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466975"/>
            <a:ext cx="3952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950" b="0">
                <a:solidFill>
                  <a:srgbClr val="5D706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5D7069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D7069"/>
                </a:solidFill>
                <a:latin typeface="Arial"/>
                <a:ea typeface="Arial"/>
                <a:cs typeface="Arial"/>
              </a:rPr>
              <a:t>Связь утверждений с цитатами</a:t>
            </a:r>
          </a:p>
          <a:p xmlns:a="http://schemas.openxmlformats.org/drawingml/2006/main">
            <a:pPr>
              <a:defRPr sz="1950" b="0">
                <a:solidFill>
                  <a:srgbClr val="5D7069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D7069"/>
                </a:solidFill>
                <a:latin typeface="Arial"/>
                <a:ea typeface="Arial"/>
                <a:cs typeface="Arial"/>
              </a:rPr>
              <a:t>и официальными источниками</a:t>
            </a:r>
          </a:p>
        </p:txBody>
      </p:sp>
      <p:sp>
        <p:nvSpPr>
          <p:cNvPr id="5" name="Безопасный отказ">
            <a:extLst xmlns:a="http://schemas.openxmlformats.org/drawingml/2006/main">
              <a:ext uri="{FF2B5EF4-FFF2-40B4-BE49-F238E27FC236}">
                <a16:creationId xmlns:a16="http://schemas.microsoft.com/office/drawing/2014/main" id="{85AC1AF4-B286-4EA3-9059-977F56AD2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676650"/>
            <a:ext cx="4000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1">
                <a:solidFill>
                  <a:srgbClr val="21725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21725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1725B"/>
                </a:solidFill>
                <a:latin typeface="Arial"/>
                <a:ea typeface="Arial"/>
                <a:cs typeface="Arial"/>
              </a:rPr>
              <a:t>Безопасный отказ</a:t>
            </a:r>
          </a:p>
        </p:txBody>
      </p:sp>
      <p:sp>
        <p:nvSpPr>
          <p:cNvPr id="6" name="Если доказательств недостаточно,&#10;система">
            <a:extLst xmlns:a="http://schemas.openxmlformats.org/drawingml/2006/main">
              <a:ext uri="{FF2B5EF4-FFF2-40B4-BE49-F238E27FC236}">
                <a16:creationId xmlns:a16="http://schemas.microsoft.com/office/drawing/2014/main" id="{082B53EA-67B6-41CF-B792-52F31D56B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10050"/>
            <a:ext cx="4000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950" b="0">
                <a:solidFill>
                  <a:srgbClr val="5D706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5D7069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D7069"/>
                </a:solidFill>
                <a:latin typeface="Arial"/>
                <a:ea typeface="Arial"/>
                <a:cs typeface="Arial"/>
              </a:rPr>
              <a:t>Если доказательств недостаточно,</a:t>
            </a:r>
          </a:p>
          <a:p xmlns:a="http://schemas.openxmlformats.org/drawingml/2006/main">
            <a:pPr>
              <a:defRPr sz="1950" b="0">
                <a:solidFill>
                  <a:srgbClr val="5D7069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D7069"/>
                </a:solidFill>
                <a:latin typeface="Arial"/>
                <a:ea typeface="Arial"/>
                <a:cs typeface="Arial"/>
              </a:rPr>
              <a:t>система сообщает об этом</a:t>
            </a:r>
          </a:p>
        </p:txBody>
      </p:sp>
      <p:sp>
        <p:nvSpPr>
          <p:cNvPr id="7" name="Два языка и история диалога">
            <a:extLst xmlns:a="http://schemas.openxmlformats.org/drawingml/2006/main">
              <a:ext uri="{FF2B5EF4-FFF2-40B4-BE49-F238E27FC236}">
                <a16:creationId xmlns:a16="http://schemas.microsoft.com/office/drawing/2014/main" id="{615E7573-997A-4E0E-8C37-F95644389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343525"/>
            <a:ext cx="400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75" b="1">
                <a:solidFill>
                  <a:srgbClr val="21725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21725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1725B"/>
                </a:solidFill>
                <a:latin typeface="Arial"/>
                <a:ea typeface="Arial"/>
                <a:cs typeface="Arial"/>
              </a:rPr>
              <a:t>Два языка и история диалога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7F66F2-253F-4E2F-9665-2BE201D7F39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40235d28b840ab"/>
          <a:stretch xmlns:a="http://schemas.openxmlformats.org/drawingml/2006/main"/>
        </p:blipFill>
        <p:spPr>
          <a:xfrm xmlns:a="http://schemas.openxmlformats.org/drawingml/2006/main">
            <a:off x="4910668" y="1704975"/>
            <a:ext cx="6571189" cy="4610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252378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Опыт и звания пользователей">
            <a:extLst xmlns:a="http://schemas.openxmlformats.org/drawingml/2006/main">
              <a:ext uri="{FF2B5EF4-FFF2-40B4-BE49-F238E27FC236}">
                <a16:creationId xmlns:a16="http://schemas.microsoft.com/office/drawing/2014/main" id="{7F8D2C7D-62C5-4B9D-A029-C3195B71D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450" b="1">
                <a:solidFill>
                  <a:srgbClr val="173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73B35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73B35"/>
                </a:solidFill>
                <a:latin typeface="Arial"/>
                <a:ea typeface="Arial"/>
                <a:cs typeface="Arial"/>
              </a:rPr>
              <a:t>Опыт и звания пользователей</a:t>
            </a:r>
          </a:p>
        </p:txBody>
      </p:sp>
      <p:sp>
        <p:nvSpPr>
          <p:cNvPr id="2" name="Концепция следующего этапа развития">
            <a:extLst xmlns:a="http://schemas.openxmlformats.org/drawingml/2006/main">
              <a:ext uri="{FF2B5EF4-FFF2-40B4-BE49-F238E27FC236}">
                <a16:creationId xmlns:a16="http://schemas.microsoft.com/office/drawing/2014/main" id="{F910B7A3-F19A-40B2-8339-2D6E355A6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81125"/>
            <a:ext cx="10934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5D706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D706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D7069"/>
                </a:solidFill>
                <a:latin typeface="Arial"/>
                <a:ea typeface="Arial"/>
                <a:cs typeface="Arial"/>
              </a:rPr>
              <a:t>Концепция следующего этапа развития</a:t>
            </a:r>
          </a:p>
        </p:txBody>
      </p:sp>
      <p:sp>
        <p:nvSpPr>
          <p:cNvPr id="3" name="08">
            <a:extLst xmlns:a="http://schemas.openxmlformats.org/drawingml/2006/main">
              <a:ext uri="{FF2B5EF4-FFF2-40B4-BE49-F238E27FC236}">
                <a16:creationId xmlns:a16="http://schemas.microsoft.com/office/drawing/2014/main" id="{02FE920D-D6B7-4178-966F-5AE48104E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5317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5D706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D706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D7069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За что начислять опыт">
            <a:extLst xmlns:a="http://schemas.openxmlformats.org/drawingml/2006/main">
              <a:ext uri="{FF2B5EF4-FFF2-40B4-BE49-F238E27FC236}">
                <a16:creationId xmlns:a16="http://schemas.microsoft.com/office/drawing/2014/main" id="{7BD43900-2F82-41EE-A551-C7F5C71D4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24075"/>
            <a:ext cx="514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550" b="1">
                <a:solidFill>
                  <a:srgbClr val="21725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21725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1725B"/>
                </a:solidFill>
                <a:latin typeface="Arial"/>
                <a:ea typeface="Arial"/>
                <a:cs typeface="Arial"/>
              </a:rPr>
              <a:t>За что начислять опыт</a:t>
            </a:r>
          </a:p>
        </p:txBody>
      </p:sp>
      <p:sp>
        <p:nvSpPr>
          <p:cNvPr id="5" name="Изучение первоисточника&#10;&#10;Верный ответ в ">
            <a:extLst xmlns:a="http://schemas.openxmlformats.org/drawingml/2006/main">
              <a:ext uri="{FF2B5EF4-FFF2-40B4-BE49-F238E27FC236}">
                <a16:creationId xmlns:a16="http://schemas.microsoft.com/office/drawing/2014/main" id="{1E42E95D-53A0-4A80-99F2-A649BEE53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67025"/>
            <a:ext cx="5381625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75" b="0">
                <a:solidFill>
                  <a:srgbClr val="173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73B3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3B35"/>
                </a:solidFill>
                <a:latin typeface="Arial"/>
                <a:ea typeface="Arial"/>
                <a:cs typeface="Arial"/>
              </a:rPr>
              <a:t>Изучение первоисточника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173B3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3B35"/>
                </a:solidFill>
                <a:latin typeface="Arial"/>
                <a:ea typeface="Arial"/>
                <a:cs typeface="Arial"/>
              </a:rPr>
              <a:t>Верный ответ в правовом мини-тесте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173B3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3B35"/>
                </a:solidFill>
                <a:latin typeface="Arial"/>
                <a:ea typeface="Arial"/>
                <a:cs typeface="Arial"/>
              </a:rPr>
              <a:t>Прохождение учебной темы</a:t>
            </a:r>
          </a:p>
        </p:txBody>
      </p:sp>
      <p:sp>
        <p:nvSpPr>
          <p:cNvPr id="6" name="Лестница званий">
            <a:extLst xmlns:a="http://schemas.openxmlformats.org/drawingml/2006/main">
              <a:ext uri="{FF2B5EF4-FFF2-40B4-BE49-F238E27FC236}">
                <a16:creationId xmlns:a16="http://schemas.microsoft.com/office/drawing/2014/main" id="{B762E486-D5B7-437C-B300-DA879DED7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2124075"/>
            <a:ext cx="447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550" b="1">
                <a:solidFill>
                  <a:srgbClr val="21725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21725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1725B"/>
                </a:solidFill>
                <a:latin typeface="Arial"/>
                <a:ea typeface="Arial"/>
                <a:cs typeface="Arial"/>
              </a:rPr>
              <a:t>Лестница званий</a:t>
            </a:r>
          </a:p>
        </p:txBody>
      </p:sp>
      <p:sp>
        <p:nvSpPr>
          <p:cNvPr id="7" name="Новичок&#10;&#10;Исследователь&#10;&#10;Знаток источнико">
            <a:extLst xmlns:a="http://schemas.openxmlformats.org/drawingml/2006/main">
              <a:ext uri="{FF2B5EF4-FFF2-40B4-BE49-F238E27FC236}">
                <a16:creationId xmlns:a16="http://schemas.microsoft.com/office/drawing/2014/main" id="{99F06A03-1743-49CE-9C54-2D3EA13CF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2867025"/>
            <a:ext cx="428625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400" b="0">
                <a:solidFill>
                  <a:srgbClr val="173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73B35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73B35"/>
                </a:solidFill>
                <a:latin typeface="Arial"/>
                <a:ea typeface="Arial"/>
                <a:cs typeface="Arial"/>
              </a:rPr>
              <a:t>Новичок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 b="0">
                <a:solidFill>
                  <a:srgbClr val="173B35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73B35"/>
                </a:solidFill>
                <a:latin typeface="Arial"/>
                <a:ea typeface="Arial"/>
                <a:cs typeface="Arial"/>
              </a:rPr>
              <a:t>Исследователь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 b="0">
                <a:solidFill>
                  <a:srgbClr val="173B35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73B35"/>
                </a:solidFill>
                <a:latin typeface="Arial"/>
                <a:ea typeface="Arial"/>
                <a:cs typeface="Arial"/>
              </a:rPr>
              <a:t>Знаток источников</a:t>
            </a:r>
          </a:p>
        </p:txBody>
      </p:sp>
      <p:sp>
        <p:nvSpPr>
          <p:cNvPr id="8" name="Звание отражает учебный прогресс. Оно не">
            <a:extLst xmlns:a="http://schemas.openxmlformats.org/drawingml/2006/main">
              <a:ext uri="{FF2B5EF4-FFF2-40B4-BE49-F238E27FC236}">
                <a16:creationId xmlns:a16="http://schemas.microsoft.com/office/drawing/2014/main" id="{1F00E314-B93B-493C-B310-262974893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05475"/>
            <a:ext cx="10620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5D706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D706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D7069"/>
                </a:solidFill>
                <a:latin typeface="Arial"/>
                <a:ea typeface="Arial"/>
                <a:cs typeface="Arial"/>
              </a:rPr>
              <a:t>Звание отражает учебный прогресс. Оно не даёт юридической квалификации и не влияет на проверку ответов ИИ.</a:t>
            </a:r>
          </a:p>
        </p:txBody>
      </p:sp>
    </p:spTree>
    <p:extLst>
      <p:ext uri="{BB962C8B-B14F-4D97-AF65-F5344CB8AC3E}">
        <p14:creationId xmlns:p14="http://schemas.microsoft.com/office/powerpoint/2010/main" val="123795200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02D2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Adal AI в WhatsApp">
            <a:extLst xmlns:a="http://schemas.openxmlformats.org/drawingml/2006/main">
              <a:ext uri="{FF2B5EF4-FFF2-40B4-BE49-F238E27FC236}">
                <a16:creationId xmlns:a16="http://schemas.microsoft.com/office/drawing/2014/main" id="{BB98AB3B-06CB-4E73-9FA9-4964F44EE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Adal AI в WhatsApp</a:t>
            </a:r>
          </a:p>
        </p:txBody>
      </p:sp>
      <p:sp>
        <p:nvSpPr>
          <p:cNvPr id="2" name="Веб-портал и привычный канал общения">
            <a:extLst xmlns:a="http://schemas.openxmlformats.org/drawingml/2006/main">
              <a:ext uri="{FF2B5EF4-FFF2-40B4-BE49-F238E27FC236}">
                <a16:creationId xmlns:a16="http://schemas.microsoft.com/office/drawing/2014/main" id="{615B5E46-31AF-47A5-83E4-2D5360D29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81125"/>
            <a:ext cx="10934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BBD8B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BBD8BE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BBD8BE"/>
                </a:solidFill>
                <a:latin typeface="Arial"/>
                <a:ea typeface="Arial"/>
                <a:cs typeface="Arial"/>
              </a:rPr>
              <a:t>Веб-портал и привычный канал общения</a:t>
            </a:r>
          </a:p>
        </p:txBody>
      </p:sp>
      <p:sp>
        <p:nvSpPr>
          <p:cNvPr id="3" name="09">
            <a:extLst xmlns:a="http://schemas.openxmlformats.org/drawingml/2006/main">
              <a:ext uri="{FF2B5EF4-FFF2-40B4-BE49-F238E27FC236}">
                <a16:creationId xmlns:a16="http://schemas.microsoft.com/office/drawing/2014/main" id="{2E8F1A94-2902-4AFC-8084-71D752598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5317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BBD8B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BBD8B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BD8BE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4" name="+7 706 725 7286">
            <a:extLst xmlns:a="http://schemas.openxmlformats.org/drawingml/2006/main">
              <a:ext uri="{FF2B5EF4-FFF2-40B4-BE49-F238E27FC236}">
                <a16:creationId xmlns:a16="http://schemas.microsoft.com/office/drawing/2014/main" id="{A56C5A5A-76E2-44CC-8256-B361CBBE9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390775"/>
            <a:ext cx="10953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6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6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+7 706 725 7286</a:t>
            </a:r>
          </a:p>
        </p:txBody>
      </p:sp>
      <p:sp>
        <p:nvSpPr>
          <p:cNvPr id="5" name="Напишите на этот номер&#10;и задайте вопрос ">
            <a:extLst xmlns:a="http://schemas.openxmlformats.org/drawingml/2006/main">
              <a:ext uri="{FF2B5EF4-FFF2-40B4-BE49-F238E27FC236}">
                <a16:creationId xmlns:a16="http://schemas.microsoft.com/office/drawing/2014/main" id="{B6D5288B-B246-46DA-B7C0-6DC84787F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33800"/>
            <a:ext cx="101917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225" b="0">
                <a:solidFill>
                  <a:srgbClr val="BBD8B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0">
                <a:solidFill>
                  <a:srgbClr val="BBD8BE"/>
                </a:solidFill>
                <a:latin typeface="Arial"/>
                <a:ea typeface="Arial"/>
                <a:cs typeface="Arial"/>
              </a:defRPr>
            </a:pPr>
            <a:r>
              <a:rPr sz="3225" b="0">
                <a:solidFill>
                  <a:srgbClr val="BBD8BE"/>
                </a:solidFill>
                <a:latin typeface="Arial"/>
                <a:ea typeface="Arial"/>
                <a:cs typeface="Arial"/>
              </a:rPr>
              <a:t>Напишите на этот номер</a:t>
            </a:r>
          </a:p>
          <a:p xmlns:a="http://schemas.openxmlformats.org/drawingml/2006/main">
            <a:pPr>
              <a:defRPr sz="3225" b="0">
                <a:solidFill>
                  <a:srgbClr val="BBD8BE"/>
                </a:solidFill>
                <a:latin typeface="Arial"/>
                <a:ea typeface="Arial"/>
                <a:cs typeface="Arial"/>
              </a:defRPr>
            </a:pPr>
            <a:r>
              <a:rPr sz="3225" b="0">
                <a:solidFill>
                  <a:srgbClr val="BBD8BE"/>
                </a:solidFill>
                <a:latin typeface="Arial"/>
                <a:ea typeface="Arial"/>
                <a:cs typeface="Arial"/>
              </a:rPr>
              <a:t>и задайте вопрос Adal AI</a:t>
            </a:r>
          </a:p>
        </p:txBody>
      </p:sp>
      <p:sp>
        <p:nvSpPr>
          <p:cNvPr id="6" name="wa.me/77067257286">
            <a:extLst xmlns:a="http://schemas.openxmlformats.org/drawingml/2006/main">
              <a:ext uri="{FF2B5EF4-FFF2-40B4-BE49-F238E27FC236}">
                <a16:creationId xmlns:a16="http://schemas.microsoft.com/office/drawing/2014/main" id="{8BCD997F-8FB3-4D94-AEC4-1AEFB7CB4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10200"/>
            <a:ext cx="857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325" b="0">
                <a:solidFill>
                  <a:srgbClr val="D4B2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D4B273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D4B273"/>
                </a:solidFill>
                <a:latin typeface="Arial"/>
                <a:ea typeface="Arial"/>
                <a:cs typeface="Arial"/>
              </a:rPr>
              <a:t>wa.me/77067257286</a:t>
            </a:r>
          </a:p>
        </p:txBody>
      </p:sp>
    </p:spTree>
    <p:extLst>
      <p:ext uri="{BB962C8B-B14F-4D97-AF65-F5344CB8AC3E}">
        <p14:creationId xmlns:p14="http://schemas.microsoft.com/office/powerpoint/2010/main" val="62183696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Архитектура проекта">
            <a:extLst xmlns:a="http://schemas.openxmlformats.org/drawingml/2006/main">
              <a:ext uri="{FF2B5EF4-FFF2-40B4-BE49-F238E27FC236}">
                <a16:creationId xmlns:a16="http://schemas.microsoft.com/office/drawing/2014/main" id="{A728870D-6721-4C85-81C9-C49E09447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450" b="1">
                <a:solidFill>
                  <a:srgbClr val="173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73B35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73B35"/>
                </a:solidFill>
                <a:latin typeface="Arial"/>
                <a:ea typeface="Arial"/>
                <a:cs typeface="Arial"/>
              </a:rPr>
              <a:t>Архитектура проекта</a:t>
            </a:r>
          </a:p>
        </p:txBody>
      </p:sp>
      <p:sp>
        <p:nvSpPr>
          <p:cNvPr id="2" name="Дополнительный слайд для вопросов жюри">
            <a:extLst xmlns:a="http://schemas.openxmlformats.org/drawingml/2006/main">
              <a:ext uri="{FF2B5EF4-FFF2-40B4-BE49-F238E27FC236}">
                <a16:creationId xmlns:a16="http://schemas.microsoft.com/office/drawing/2014/main" id="{27CB1492-E749-4250-9CF6-2D36959E4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81125"/>
            <a:ext cx="10934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5D706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D706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D7069"/>
                </a:solidFill>
                <a:latin typeface="Arial"/>
                <a:ea typeface="Arial"/>
                <a:cs typeface="Arial"/>
              </a:rPr>
              <a:t>Дополнительный слайд для вопросов жюри</a:t>
            </a:r>
          </a:p>
        </p:txBody>
      </p:sp>
      <p:sp>
        <p:nvSpPr>
          <p:cNvPr id="3" name="10">
            <a:extLst xmlns:a="http://schemas.openxmlformats.org/drawingml/2006/main">
              <a:ext uri="{FF2B5EF4-FFF2-40B4-BE49-F238E27FC236}">
                <a16:creationId xmlns:a16="http://schemas.microsoft.com/office/drawing/2014/main" id="{F9033309-2E09-4694-8210-0E5BBCF0A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5317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5D706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D706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D7069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4" name="01">
            <a:extLst xmlns:a="http://schemas.openxmlformats.org/drawingml/2006/main">
              <a:ext uri="{FF2B5EF4-FFF2-40B4-BE49-F238E27FC236}">
                <a16:creationId xmlns:a16="http://schemas.microsoft.com/office/drawing/2014/main" id="{C18FCBF7-D098-4D8A-B53C-7588278E5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764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700" b="1">
                <a:solidFill>
                  <a:srgbClr val="21725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21725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21725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Веб-интерфейс">
            <a:extLst xmlns:a="http://schemas.openxmlformats.org/drawingml/2006/main">
              <a:ext uri="{FF2B5EF4-FFF2-40B4-BE49-F238E27FC236}">
                <a16:creationId xmlns:a16="http://schemas.microsoft.com/office/drawing/2014/main" id="{EA4BC8C4-D181-4552-B5BF-4A99BAC67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76450"/>
            <a:ext cx="9848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75" b="1">
                <a:solidFill>
                  <a:srgbClr val="173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73B35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3B35"/>
                </a:solidFill>
                <a:latin typeface="Arial"/>
                <a:ea typeface="Arial"/>
                <a:cs typeface="Arial"/>
              </a:rPr>
              <a:t>Веб-интерфейс</a:t>
            </a:r>
          </a:p>
        </p:txBody>
      </p:sp>
      <p:sp>
        <p:nvSpPr>
          <p:cNvPr id="6" name="React и TypeScript: вопрос, выбор языка,">
            <a:extLst xmlns:a="http://schemas.openxmlformats.org/drawingml/2006/main">
              <a:ext uri="{FF2B5EF4-FFF2-40B4-BE49-F238E27FC236}">
                <a16:creationId xmlns:a16="http://schemas.microsoft.com/office/drawing/2014/main" id="{0918B043-5B81-46B4-B97C-76D77EA80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14600"/>
            <a:ext cx="98488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 b="0">
                <a:solidFill>
                  <a:srgbClr val="5D706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D7069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D7069"/>
                </a:solidFill>
                <a:latin typeface="Arial"/>
                <a:ea typeface="Arial"/>
                <a:cs typeface="Arial"/>
              </a:rPr>
              <a:t>React и TypeScript: вопрос, выбор языка, ответ, источники и история</a:t>
            </a:r>
          </a:p>
        </p:txBody>
      </p:sp>
      <p:sp>
        <p:nvSpPr>
          <p:cNvPr id="7" name="02">
            <a:extLst xmlns:a="http://schemas.openxmlformats.org/drawingml/2006/main">
              <a:ext uri="{FF2B5EF4-FFF2-40B4-BE49-F238E27FC236}">
                <a16:creationId xmlns:a16="http://schemas.microsoft.com/office/drawing/2014/main" id="{2E220EE4-EF5A-43EE-8758-AAF121241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33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700" b="1">
                <a:solidFill>
                  <a:srgbClr val="21725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21725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21725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Сервер и данные">
            <a:extLst xmlns:a="http://schemas.openxmlformats.org/drawingml/2006/main">
              <a:ext uri="{FF2B5EF4-FFF2-40B4-BE49-F238E27FC236}">
                <a16:creationId xmlns:a16="http://schemas.microsoft.com/office/drawing/2014/main" id="{BED28676-022F-4267-8528-A9344DD3B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333750"/>
            <a:ext cx="9848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75" b="1">
                <a:solidFill>
                  <a:srgbClr val="173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73B35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3B35"/>
                </a:solidFill>
                <a:latin typeface="Arial"/>
                <a:ea typeface="Arial"/>
                <a:cs typeface="Arial"/>
              </a:rPr>
              <a:t>Сервер и данные</a:t>
            </a:r>
          </a:p>
        </p:txBody>
      </p:sp>
      <p:sp>
        <p:nvSpPr>
          <p:cNvPr id="9" name="FastAPI, библиотека документов и JSONL-к">
            <a:extLst xmlns:a="http://schemas.openxmlformats.org/drawingml/2006/main">
              <a:ext uri="{FF2B5EF4-FFF2-40B4-BE49-F238E27FC236}">
                <a16:creationId xmlns:a16="http://schemas.microsoft.com/office/drawing/2014/main" id="{C6A65B33-54BB-4B88-85F9-AFA0F57BD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771900"/>
            <a:ext cx="98488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 b="0">
                <a:solidFill>
                  <a:srgbClr val="5D706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D7069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D7069"/>
                </a:solidFill>
                <a:latin typeface="Arial"/>
                <a:ea typeface="Arial"/>
                <a:cs typeface="Arial"/>
              </a:rPr>
              <a:t>FastAPI, библиотека документов и JSONL-корпус. SQLite хранит историю</a:t>
            </a:r>
          </a:p>
        </p:txBody>
      </p:sp>
      <p:sp>
        <p:nvSpPr>
          <p:cNvPr id="10" name="03">
            <a:extLst xmlns:a="http://schemas.openxmlformats.org/drawingml/2006/main">
              <a:ext uri="{FF2B5EF4-FFF2-40B4-BE49-F238E27FC236}">
                <a16:creationId xmlns:a16="http://schemas.microsoft.com/office/drawing/2014/main" id="{90FC2293-2F31-4838-BE0B-4D4C9888D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910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700" b="1">
                <a:solidFill>
                  <a:srgbClr val="21725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21725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21725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ИИ-компоненты">
            <a:extLst xmlns:a="http://schemas.openxmlformats.org/drawingml/2006/main">
              <a:ext uri="{FF2B5EF4-FFF2-40B4-BE49-F238E27FC236}">
                <a16:creationId xmlns:a16="http://schemas.microsoft.com/office/drawing/2014/main" id="{144C0BBD-37FC-46C4-BA7D-316029E1D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591050"/>
            <a:ext cx="9848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75" b="1">
                <a:solidFill>
                  <a:srgbClr val="173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73B35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3B35"/>
                </a:solidFill>
                <a:latin typeface="Arial"/>
                <a:ea typeface="Arial"/>
                <a:cs typeface="Arial"/>
              </a:rPr>
              <a:t>ИИ-компоненты</a:t>
            </a:r>
          </a:p>
        </p:txBody>
      </p:sp>
      <p:sp>
        <p:nvSpPr>
          <p:cNvPr id="12" name="BM25, DeepSeek или Gemini, Google Check ">
            <a:extLst xmlns:a="http://schemas.openxmlformats.org/drawingml/2006/main">
              <a:ext uri="{FF2B5EF4-FFF2-40B4-BE49-F238E27FC236}">
                <a16:creationId xmlns:a16="http://schemas.microsoft.com/office/drawing/2014/main" id="{E7CFC946-B5B7-4D8D-B781-C6EE2D74F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029200"/>
            <a:ext cx="98488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 b="0">
                <a:solidFill>
                  <a:srgbClr val="5D706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D7069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D7069"/>
                </a:solidFill>
                <a:latin typeface="Arial"/>
                <a:ea typeface="Arial"/>
                <a:cs typeface="Arial"/>
              </a:rPr>
              <a:t>BM25, DeepSeek или Gemini, Google Check Grounding и модель-критик</a:t>
            </a:r>
          </a:p>
        </p:txBody>
      </p:sp>
    </p:spTree>
    <p:extLst>
      <p:ext uri="{BB962C8B-B14F-4D97-AF65-F5344CB8AC3E}">
        <p14:creationId xmlns:p14="http://schemas.microsoft.com/office/powerpoint/2010/main" val="38978712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Работа с сетью и повторная проверка">
            <a:extLst xmlns:a="http://schemas.openxmlformats.org/drawingml/2006/main">
              <a:ext uri="{FF2B5EF4-FFF2-40B4-BE49-F238E27FC236}">
                <a16:creationId xmlns:a16="http://schemas.microsoft.com/office/drawing/2014/main" id="{1C5E35FD-04D3-48A7-B7C9-D57C40B29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450" b="1">
                <a:solidFill>
                  <a:srgbClr val="173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73B35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73B35"/>
                </a:solidFill>
                <a:latin typeface="Arial"/>
                <a:ea typeface="Arial"/>
                <a:cs typeface="Arial"/>
              </a:rPr>
              <a:t>Работа с сетью и повторная проверка</a:t>
            </a:r>
          </a:p>
        </p:txBody>
      </p:sp>
      <p:sp>
        <p:nvSpPr>
          <p:cNvPr id="2" name="Дополнительный слайд для вопросов жюри">
            <a:extLst xmlns:a="http://schemas.openxmlformats.org/drawingml/2006/main">
              <a:ext uri="{FF2B5EF4-FFF2-40B4-BE49-F238E27FC236}">
                <a16:creationId xmlns:a16="http://schemas.microsoft.com/office/drawing/2014/main" id="{219D3F1F-1123-459C-A7C4-3146F4FF2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81125"/>
            <a:ext cx="10934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5D706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D706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D7069"/>
                </a:solidFill>
                <a:latin typeface="Arial"/>
                <a:ea typeface="Arial"/>
                <a:cs typeface="Arial"/>
              </a:rPr>
              <a:t>Дополнительный слайд для вопросов жюри</a:t>
            </a:r>
          </a:p>
        </p:txBody>
      </p:sp>
      <p:sp>
        <p:nvSpPr>
          <p:cNvPr id="3" name="11">
            <a:extLst xmlns:a="http://schemas.openxmlformats.org/drawingml/2006/main">
              <a:ext uri="{FF2B5EF4-FFF2-40B4-BE49-F238E27FC236}">
                <a16:creationId xmlns:a16="http://schemas.microsoft.com/office/drawing/2014/main" id="{4D31CDB2-1EF9-4B36-90F5-DB54D13F8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5317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5D706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D706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D7069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4" name="01">
            <a:extLst xmlns:a="http://schemas.openxmlformats.org/drawingml/2006/main">
              <a:ext uri="{FF2B5EF4-FFF2-40B4-BE49-F238E27FC236}">
                <a16:creationId xmlns:a16="http://schemas.microsoft.com/office/drawing/2014/main" id="{E71C11DF-6F2C-47D3-BDF5-7B0AD5CEC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66925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700" b="1">
                <a:solidFill>
                  <a:srgbClr val="21725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21725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21725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Получение материалов из интернета">
            <a:extLst xmlns:a="http://schemas.openxmlformats.org/drawingml/2006/main">
              <a:ext uri="{FF2B5EF4-FFF2-40B4-BE49-F238E27FC236}">
                <a16:creationId xmlns:a16="http://schemas.microsoft.com/office/drawing/2014/main" id="{061B5B66-C526-435F-91F5-356A87D6D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66925"/>
            <a:ext cx="9848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75" b="1">
                <a:solidFill>
                  <a:srgbClr val="173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73B35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3B35"/>
                </a:solidFill>
                <a:latin typeface="Arial"/>
                <a:ea typeface="Arial"/>
                <a:cs typeface="Arial"/>
              </a:rPr>
              <a:t>Получение материалов из интернета</a:t>
            </a:r>
          </a:p>
        </p:txBody>
      </p:sp>
      <p:sp>
        <p:nvSpPr>
          <p:cNvPr id="6" name="Загрузка из официального каталога, просм">
            <a:extLst xmlns:a="http://schemas.openxmlformats.org/drawingml/2006/main">
              <a:ext uri="{FF2B5EF4-FFF2-40B4-BE49-F238E27FC236}">
                <a16:creationId xmlns:a16="http://schemas.microsoft.com/office/drawing/2014/main" id="{EE1CB695-8939-4044-950A-FE16F35D8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05075"/>
            <a:ext cx="98488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 b="0">
                <a:solidFill>
                  <a:srgbClr val="5D706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D7069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D7069"/>
                </a:solidFill>
                <a:latin typeface="Arial"/>
                <a:ea typeface="Arial"/>
                <a:cs typeface="Arial"/>
              </a:rPr>
              <a:t>Загрузка из официального каталога, просмотр текста и активация</a:t>
            </a:r>
          </a:p>
        </p:txBody>
      </p:sp>
      <p:sp>
        <p:nvSpPr>
          <p:cNvPr id="7" name="02">
            <a:extLst xmlns:a="http://schemas.openxmlformats.org/drawingml/2006/main">
              <a:ext uri="{FF2B5EF4-FFF2-40B4-BE49-F238E27FC236}">
                <a16:creationId xmlns:a16="http://schemas.microsoft.com/office/drawing/2014/main" id="{0F46D896-D182-49E1-A99A-AC6B69CC5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33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700" b="1">
                <a:solidFill>
                  <a:srgbClr val="21725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21725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21725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Формирование ответа">
            <a:extLst xmlns:a="http://schemas.openxmlformats.org/drawingml/2006/main">
              <a:ext uri="{FF2B5EF4-FFF2-40B4-BE49-F238E27FC236}">
                <a16:creationId xmlns:a16="http://schemas.microsoft.com/office/drawing/2014/main" id="{EF61767F-A7BF-4D60-B548-E254910F4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333750"/>
            <a:ext cx="9848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75" b="1">
                <a:solidFill>
                  <a:srgbClr val="173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73B35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3B35"/>
                </a:solidFill>
                <a:latin typeface="Arial"/>
                <a:ea typeface="Arial"/>
                <a:cs typeface="Arial"/>
              </a:rPr>
              <a:t>Формирование ответа</a:t>
            </a:r>
          </a:p>
        </p:txBody>
      </p:sp>
      <p:sp>
        <p:nvSpPr>
          <p:cNvPr id="9" name="Поиск по внутреннему корпусу. Произвольн">
            <a:extLst xmlns:a="http://schemas.openxmlformats.org/drawingml/2006/main">
              <a:ext uri="{FF2B5EF4-FFF2-40B4-BE49-F238E27FC236}">
                <a16:creationId xmlns:a16="http://schemas.microsoft.com/office/drawing/2014/main" id="{3E01321B-E49E-4C23-8D01-9C6E61649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771900"/>
            <a:ext cx="98488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 b="0">
                <a:solidFill>
                  <a:srgbClr val="5D706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D7069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D7069"/>
                </a:solidFill>
                <a:latin typeface="Arial"/>
                <a:ea typeface="Arial"/>
                <a:cs typeface="Arial"/>
              </a:rPr>
              <a:t>Поиск по внутреннему корпусу. Произвольного веб-поиска в этом цикле нет</a:t>
            </a:r>
          </a:p>
        </p:txBody>
      </p:sp>
      <p:sp>
        <p:nvSpPr>
          <p:cNvPr id="10" name="03">
            <a:extLst xmlns:a="http://schemas.openxmlformats.org/drawingml/2006/main">
              <a:ext uri="{FF2B5EF4-FFF2-40B4-BE49-F238E27FC236}">
                <a16:creationId xmlns:a16="http://schemas.microsoft.com/office/drawing/2014/main" id="{61A29589-047F-4C33-8ACD-27D4BCBBF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00575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700" b="1">
                <a:solidFill>
                  <a:srgbClr val="21725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21725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21725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Повтор после отклонения">
            <a:extLst xmlns:a="http://schemas.openxmlformats.org/drawingml/2006/main">
              <a:ext uri="{FF2B5EF4-FFF2-40B4-BE49-F238E27FC236}">
                <a16:creationId xmlns:a16="http://schemas.microsoft.com/office/drawing/2014/main" id="{A0B2EE30-6D6F-4AF1-819C-E2FBC4CA1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600575"/>
            <a:ext cx="9848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75" b="1">
                <a:solidFill>
                  <a:srgbClr val="173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73B35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3B35"/>
                </a:solidFill>
                <a:latin typeface="Arial"/>
                <a:ea typeface="Arial"/>
                <a:cs typeface="Arial"/>
              </a:rPr>
              <a:t>Повтор после отклонения</a:t>
            </a:r>
          </a:p>
        </p:txBody>
      </p:sp>
      <p:sp>
        <p:nvSpPr>
          <p:cNvPr id="12" name="Одна новая генерация с кодами ошибок и п">
            <a:extLst xmlns:a="http://schemas.openxmlformats.org/drawingml/2006/main">
              <a:ext uri="{FF2B5EF4-FFF2-40B4-BE49-F238E27FC236}">
                <a16:creationId xmlns:a16="http://schemas.microsoft.com/office/drawing/2014/main" id="{0FE7CC7C-DEB9-4326-A67F-3B5D68CAD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038725"/>
            <a:ext cx="98488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 b="0">
                <a:solidFill>
                  <a:srgbClr val="5D706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D7069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D7069"/>
                </a:solidFill>
                <a:latin typeface="Arial"/>
                <a:ea typeface="Arial"/>
                <a:cs typeface="Arial"/>
              </a:rPr>
              <a:t>Одна новая генерация с кодами ошибок и повтором всех этапов</a:t>
            </a:r>
          </a:p>
        </p:txBody>
      </p:sp>
    </p:spTree>
    <p:extLst>
      <p:ext uri="{BB962C8B-B14F-4D97-AF65-F5344CB8AC3E}">
        <p14:creationId xmlns:p14="http://schemas.microsoft.com/office/powerpoint/2010/main" val="190018163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Готовность и ближайшие этапы">
            <a:extLst xmlns:a="http://schemas.openxmlformats.org/drawingml/2006/main">
              <a:ext uri="{FF2B5EF4-FFF2-40B4-BE49-F238E27FC236}">
                <a16:creationId xmlns:a16="http://schemas.microsoft.com/office/drawing/2014/main" id="{6E5DF645-92A1-4DE4-AF59-2C66C6E0D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450" b="1">
                <a:solidFill>
                  <a:srgbClr val="173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73B35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73B35"/>
                </a:solidFill>
                <a:latin typeface="Arial"/>
                <a:ea typeface="Arial"/>
                <a:cs typeface="Arial"/>
              </a:rPr>
              <a:t>Готовность и ближайшие этапы</a:t>
            </a:r>
          </a:p>
        </p:txBody>
      </p:sp>
      <p:sp>
        <p:nvSpPr>
          <p:cNvPr id="2" name="Дополнительный слайд для вопросов жюри">
            <a:extLst xmlns:a="http://schemas.openxmlformats.org/drawingml/2006/main">
              <a:ext uri="{FF2B5EF4-FFF2-40B4-BE49-F238E27FC236}">
                <a16:creationId xmlns:a16="http://schemas.microsoft.com/office/drawing/2014/main" id="{AC7F4991-04DA-4370-8215-1CEAD4782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81125"/>
            <a:ext cx="10934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5D706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D706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D7069"/>
                </a:solidFill>
                <a:latin typeface="Arial"/>
                <a:ea typeface="Arial"/>
                <a:cs typeface="Arial"/>
              </a:rPr>
              <a:t>Дополнительный слайд для вопросов жюри</a:t>
            </a:r>
          </a:p>
        </p:txBody>
      </p:sp>
      <p:sp>
        <p:nvSpPr>
          <p:cNvPr id="3" name="12">
            <a:extLst xmlns:a="http://schemas.openxmlformats.org/drawingml/2006/main">
              <a:ext uri="{FF2B5EF4-FFF2-40B4-BE49-F238E27FC236}">
                <a16:creationId xmlns:a16="http://schemas.microsoft.com/office/drawing/2014/main" id="{1D71F7ED-A361-4ECB-A5BA-1AB58D315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5317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5D706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D706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D7069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C19A38-950B-4B1E-BF7F-906FDC5ADB61}"/>
              </a:ext>
            </a:extLst>
          </p:cNvPr>
          <p:cNvGraphicFramePr/>
          <p:nvPr/>
        </p:nvGraphicFramePr>
        <p:xfrm>
          <a:off xmlns:a="http://schemas.openxmlformats.org/drawingml/2006/main" x="609600" y="2114550"/>
          <a:ext xmlns:a="http://schemas.openxmlformats.org/drawingml/2006/main" cx="10972800" cy="33623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48000"/>
                <a:gridCol w="7924800"/>
              </a:tblGrid>
              <a:tr h="67246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Этап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FD8CF"/>
                      </a:solidFill>
                    </a:lnL>
                    <a:lnR w="9525">
                      <a:solidFill>
                        <a:srgbClr val="CFD8CF"/>
                      </a:solidFill>
                    </a:lnR>
                    <a:lnT w="9525">
                      <a:solidFill>
                        <a:srgbClr val="CFD8CF"/>
                      </a:solidFill>
                    </a:lnT>
                    <a:lnB w="9525">
                      <a:solidFill>
                        <a:srgbClr val="CFD8CF"/>
                      </a:solidFill>
                    </a:lnB>
                    <a:solidFill>
                      <a:srgbClr val="21725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Текущее состояние / следующий шаг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D8CF"/>
                      </a:solidFill>
                    </a:lnR>
                    <a:lnT w="9525">
                      <a:solidFill>
                        <a:srgbClr val="CFD8CF"/>
                      </a:solidFill>
                    </a:lnT>
                    <a:lnB w="9525">
                      <a:solidFill>
                        <a:srgbClr val="CFD8CF"/>
                      </a:solidFill>
                    </a:lnB>
                    <a:solidFill>
                      <a:srgbClr val="21725B"/>
                    </a:solidFill>
                  </a:tcPr>
                </a:tc>
              </a:tr>
              <a:tr h="67246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73B35"/>
                          </a:solidFill>
                          <a:latin typeface="Arial"/>
                          <a:ea typeface="Arial"/>
                          <a:cs typeface="Arial"/>
                        </a:rPr>
                        <a:t>Реализовано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FD8CF"/>
                      </a:solidFill>
                    </a:lnL>
                    <a:lnR w="9525">
                      <a:solidFill>
                        <a:srgbClr val="CFD8CF"/>
                      </a:solidFill>
                    </a:lnR>
                    <a:lnB w="9525">
                      <a:solidFill>
                        <a:srgbClr val="CFD8CF"/>
                      </a:solidFill>
                    </a:lnB>
                    <a:solidFill>
                      <a:srgbClr val="F5F5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35"/>
                          </a:solidFill>
                          <a:latin typeface="Arial"/>
                          <a:ea typeface="Arial"/>
                          <a:cs typeface="Arial"/>
                        </a:rPr>
                        <a:t>Веб-интерфейс RU/KK, библиотека, BM25, цепочка проверок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D8CF"/>
                      </a:solidFill>
                    </a:lnR>
                    <a:lnB w="9525">
                      <a:solidFill>
                        <a:srgbClr val="CFD8CF"/>
                      </a:solidFill>
                    </a:lnB>
                    <a:solidFill>
                      <a:srgbClr val="F5F5EE"/>
                    </a:solidFill>
                  </a:tcPr>
                </a:tc>
              </a:tr>
              <a:tr h="67246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73B35"/>
                          </a:solidFill>
                          <a:latin typeface="Arial"/>
                          <a:ea typeface="Arial"/>
                          <a:cs typeface="Arial"/>
                        </a:rPr>
                        <a:t>Подготовка запуска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FD8CF"/>
                      </a:solidFill>
                    </a:lnL>
                    <a:lnR w="9525">
                      <a:solidFill>
                        <a:srgbClr val="CFD8CF"/>
                      </a:solidFill>
                    </a:lnR>
                    <a:lnB w="9525">
                      <a:solidFill>
                        <a:srgbClr val="CFD8CF"/>
                      </a:solidFill>
                    </a:lnB>
                    <a:solidFill>
                      <a:srgbClr val="E8EDE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35"/>
                          </a:solidFill>
                          <a:latin typeface="Arial"/>
                          <a:ea typeface="Arial"/>
                          <a:cs typeface="Arial"/>
                        </a:rPr>
                        <a:t>Проверка и активация документов, настройка внешних API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D8CF"/>
                      </a:solidFill>
                    </a:lnR>
                    <a:lnB w="9525">
                      <a:solidFill>
                        <a:srgbClr val="CFD8CF"/>
                      </a:solidFill>
                    </a:lnB>
                    <a:solidFill>
                      <a:srgbClr val="E8EDE4"/>
                    </a:solidFill>
                  </a:tcPr>
                </a:tc>
              </a:tr>
              <a:tr h="67246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73B35"/>
                          </a:solidFill>
                          <a:latin typeface="Arial"/>
                          <a:ea typeface="Arial"/>
                          <a:cs typeface="Arial"/>
                        </a:rPr>
                        <a:t>Проверка качества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FD8CF"/>
                      </a:solidFill>
                    </a:lnL>
                    <a:lnR w="9525">
                      <a:solidFill>
                        <a:srgbClr val="CFD8CF"/>
                      </a:solidFill>
                    </a:lnR>
                    <a:lnB w="9525">
                      <a:solidFill>
                        <a:srgbClr val="CFD8CF"/>
                      </a:solidFill>
                    </a:lnB>
                    <a:solidFill>
                      <a:srgbClr val="F5F5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35"/>
                          </a:solidFill>
                          <a:latin typeface="Arial"/>
                          <a:ea typeface="Arial"/>
                          <a:cs typeface="Arial"/>
                        </a:rPr>
                        <a:t>Отдельные наборы вопросов RU/KK и экспертная оценка ответов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D8CF"/>
                      </a:solidFill>
                    </a:lnR>
                    <a:lnB w="9525">
                      <a:solidFill>
                        <a:srgbClr val="CFD8CF"/>
                      </a:solidFill>
                    </a:lnB>
                    <a:solidFill>
                      <a:srgbClr val="F5F5EE"/>
                    </a:solidFill>
                  </a:tcPr>
                </a:tc>
              </a:tr>
              <a:tr h="67246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73B35"/>
                          </a:solidFill>
                          <a:latin typeface="Arial"/>
                          <a:ea typeface="Arial"/>
                          <a:cs typeface="Arial"/>
                        </a:rPr>
                        <a:t>Развитие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FD8CF"/>
                      </a:solidFill>
                    </a:lnL>
                    <a:lnR w="9525">
                      <a:solidFill>
                        <a:srgbClr val="CFD8CF"/>
                      </a:solidFill>
                    </a:lnR>
                    <a:lnB w="9525">
                      <a:solidFill>
                        <a:srgbClr val="CFD8CF"/>
                      </a:solidFill>
                    </a:lnB>
                    <a:solidFill>
                      <a:srgbClr val="E8EDE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35"/>
                          </a:solidFill>
                          <a:latin typeface="Arial"/>
                          <a:ea typeface="Arial"/>
                          <a:cs typeface="Arial"/>
                        </a:rPr>
                        <a:t>Опыт, звания и учебные задания для пользователей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D8CF"/>
                      </a:solidFill>
                    </a:lnR>
                    <a:lnB w="9525">
                      <a:solidFill>
                        <a:srgbClr val="CFD8CF"/>
                      </a:solidFill>
                    </a:lnB>
                    <a:solidFill>
                      <a:srgbClr val="E8EDE4"/>
                    </a:solidFill>
                  </a:tcPr>
                </a:tc>
              </a:tr>
            </a:tbl>
          </a:graphicData>
        </a:graphic>
      </p:graphicFrame>
      <p:sp>
        <p:nvSpPr>
          <p:cNvPr id="5" name="Локальный стенд при подготовке: 37 докум">
            <a:extLst xmlns:a="http://schemas.openxmlformats.org/drawingml/2006/main">
              <a:ext uri="{FF2B5EF4-FFF2-40B4-BE49-F238E27FC236}">
                <a16:creationId xmlns:a16="http://schemas.microsoft.com/office/drawing/2014/main" id="{5E9E5D18-48E3-4601-A008-A064D1FAD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62625"/>
            <a:ext cx="1076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0">
                <a:solidFill>
                  <a:srgbClr val="5D706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D706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D7069"/>
                </a:solidFill>
                <a:latin typeface="Arial"/>
                <a:ea typeface="Arial"/>
                <a:cs typeface="Arial"/>
              </a:rPr>
              <a:t>Локальный стенд при подготовке: 37 документов загружено, 0 активно. Ключи ИИ ещё не настроены.</a:t>
            </a:r>
          </a:p>
        </p:txBody>
      </p:sp>
    </p:spTree>
    <p:extLst>
      <p:ext uri="{BB962C8B-B14F-4D97-AF65-F5344CB8AC3E}">
        <p14:creationId xmlns:p14="http://schemas.microsoft.com/office/powerpoint/2010/main" val="19856917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2026-10-16T07:25:13.1480000Z</dcterms:created>
  <dcterms:modified xsi:type="dcterms:W3CDTF">2026-10-16T07:25:13.1480000Z</dcterms:modified>
</coreProperties>
</file>